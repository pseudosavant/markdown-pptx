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theme/theme2.xml" ContentType="application/vnd.openxmlformats-officedocument.theme+xml"/>
  <Override PartName="/ppt/slideMasters/theme/theme3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a35f6341b1ff46d3" Type="http://schemas.openxmlformats.org/package/2006/relationships/metadata/core-properties" Target="docProps/core.xml"/><Relationship Id="Rac10a82ca2574cd5" Type="http://schemas.openxmlformats.org/officeDocument/2006/relationships/extended-properties" Target="docProps/app.xml"/><Relationship Id="Rfdfa8a98105a4c94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57a6b133e734e76"/>
    <p:sldMasterId xmlns:r="http://schemas.openxmlformats.org/officeDocument/2006/relationships" id="2147483660" r:id="Rfe2c0a5d9f754a6a"/>
  </p:sldMasterIdLst>
  <p:notesMasterIdLst>
    <p:notesMasterId xmlns:r="http://schemas.openxmlformats.org/officeDocument/2006/relationships" r:id="Rbc83832983b5463b"/>
  </p:notesMasterIdLst>
  <p:sldIdLst>
    <p:sldId xmlns:ns0="http://schemas.openxmlformats.org/officeDocument/2006/relationships" id="256" ns0:id="rId8"/>
    <p:sldId xmlns:ns0="http://schemas.openxmlformats.org/officeDocument/2006/relationships" id="257" ns0:id="rId9"/>
    <p:sldId xmlns:ns0="http://schemas.openxmlformats.org/officeDocument/2006/relationships" id="258" ns0:id="rId10"/>
    <p:sldId xmlns:ns0="http://schemas.openxmlformats.org/officeDocument/2006/relationships" id="259" ns0:id="rId11"/>
    <p:sldId xmlns:ns0="http://schemas.openxmlformats.org/officeDocument/2006/relationships" id="260" ns0:id="rId12"/>
    <p:sldId xmlns:ns0="http://schemas.openxmlformats.org/officeDocument/2006/relationships" id="261" ns0:id="rId13"/>
    <p:sldId xmlns:ns0="http://schemas.openxmlformats.org/officeDocument/2006/relationships" id="262" ns0:id="rId14"/>
    <p:sldId xmlns:ns0="http://schemas.openxmlformats.org/officeDocument/2006/relationships" id="263" ns0:id="rId15"/>
    <p:sldId xmlns:ns0="http://schemas.openxmlformats.org/officeDocument/2006/relationships" id="264" ns0:id="rId16"/>
    <p:sldId xmlns:ns0="http://schemas.openxmlformats.org/officeDocument/2006/relationships" id="265" ns0:id="rId17"/>
    <p:sldId xmlns:ns0="http://schemas.openxmlformats.org/officeDocument/2006/relationships" id="266" ns0:id="rId18"/>
    <p:sldId xmlns:ns0="http://schemas.openxmlformats.org/officeDocument/2006/relationships" id="267" ns0:id="rId19"/>
    <p:sldId xmlns:ns0="http://schemas.openxmlformats.org/officeDocument/2006/relationships" id="268" ns0:id="rId20"/>
    <p:sldId xmlns:ns0="http://schemas.openxmlformats.org/officeDocument/2006/relationships" id="269" ns0:id="rId21"/>
    <p:sldId xmlns:ns0="http://schemas.openxmlformats.org/officeDocument/2006/relationships" id="270" ns0:id="rId22"/>
    <p:sldId xmlns:ns0="http://schemas.openxmlformats.org/officeDocument/2006/relationships" id="271" ns0:id="rId23"/>
    <p:sldId xmlns:ns0="http://schemas.openxmlformats.org/officeDocument/2006/relationships" id="272" ns0:id="rId24"/>
    <p:sldId xmlns:ns0="http://schemas.openxmlformats.org/officeDocument/2006/relationships" id="273" ns0:id="rId25"/>
    <p:sldId xmlns:ns0="http://schemas.openxmlformats.org/officeDocument/2006/relationships" id="274" ns0:id="rId26"/>
    <p:sldId xmlns:ns0="http://schemas.openxmlformats.org/officeDocument/2006/relationships" id="275" ns0:id="rId27"/>
    <p:sldId xmlns:ns0="http://schemas.openxmlformats.org/officeDocument/2006/relationships" id="276" ns0:id="rId28"/>
    <p:sldId xmlns:ns0="http://schemas.openxmlformats.org/officeDocument/2006/relationships" id="277" ns0:id="rId29"/>
    <p:sldId xmlns:ns0="http://schemas.openxmlformats.org/officeDocument/2006/relationships" id="278" ns0:id="rId30"/>
    <p:sldId xmlns:ns0="http://schemas.openxmlformats.org/officeDocument/2006/relationships" id="279" ns0:id="rId31"/>
    <p:sldId xmlns:ns0="http://schemas.openxmlformats.org/officeDocument/2006/relationships" id="280" ns0:id="rId32"/>
    <p:sldId xmlns:ns0="http://schemas.openxmlformats.org/officeDocument/2006/relationships" id="281" ns0:id="rId33"/>
    <p:sldId xmlns:ns0="http://schemas.openxmlformats.org/officeDocument/2006/relationships" id="282" ns0:id="rId34"/>
    <p:sldId xmlns:ns0="http://schemas.openxmlformats.org/officeDocument/2006/relationships" id="283" ns0:id="rId35"/>
    <p:sldId xmlns:ns0="http://schemas.openxmlformats.org/officeDocument/2006/relationships" id="284" ns0:id="rId36"/>
    <p:sldId xmlns:ns0="http://schemas.openxmlformats.org/officeDocument/2006/relationships" id="285" ns0:id="rId37"/>
    <p:sldId xmlns:ns0="http://schemas.openxmlformats.org/officeDocument/2006/relationships" id="286" ns0:id="rId38"/>
    <p:sldId xmlns:ns0="http://schemas.openxmlformats.org/officeDocument/2006/relationships" id="287" ns0:id="rId39"/>
    <p:sldId xmlns:ns0="http://schemas.openxmlformats.org/officeDocument/2006/relationships" id="288" ns0:id="rId40"/>
    <p:sldId xmlns:ns0="http://schemas.openxmlformats.org/officeDocument/2006/relationships" id="289" ns0:id="rId41"/>
    <p:sldId xmlns:ns0="http://schemas.openxmlformats.org/officeDocument/2006/relationships" id="290" ns0:id="rId42"/>
    <p:sldId xmlns:ns0="http://schemas.openxmlformats.org/officeDocument/2006/relationships" id="291" ns0:id="rId43"/>
    <p:sldId xmlns:ns0="http://schemas.openxmlformats.org/officeDocument/2006/relationships" id="292" ns0:id="rId44"/>
    <p:sldId xmlns:ns0="http://schemas.openxmlformats.org/officeDocument/2006/relationships" id="293" ns0:id="rId45"/>
    <p:sldId xmlns:ns0="http://schemas.openxmlformats.org/officeDocument/2006/relationships" id="294" ns0:id="rId46"/>
    <p:sldId xmlns:ns0="http://schemas.openxmlformats.org/officeDocument/2006/relationships" id="295" ns0:id="rId47"/>
    <p:sldId xmlns:ns0="http://schemas.openxmlformats.org/officeDocument/2006/relationships" id="296" ns0:id="rId48"/>
    <p:sldId xmlns:ns0="http://schemas.openxmlformats.org/officeDocument/2006/relationships" id="297" ns0:id="rId49"/>
    <p:sldId xmlns:ns0="http://schemas.openxmlformats.org/officeDocument/2006/relationships" id="298" ns0:id="rId50"/>
    <p:sldId xmlns:ns0="http://schemas.openxmlformats.org/officeDocument/2006/relationships" id="299" ns0:id="rId51"/>
    <p:sldId xmlns:ns0="http://schemas.openxmlformats.org/officeDocument/2006/relationships" id="300" ns0:id="rId52"/>
    <p:sldId xmlns:ns0="http://schemas.openxmlformats.org/officeDocument/2006/relationships" id="301" ns0:id="rId53"/>
    <p:sldId xmlns:ns0="http://schemas.openxmlformats.org/officeDocument/2006/relationships" id="302" ns0:id="rId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<?xml version='1.0' encoding='UTF-8' standalone='yes'?>
<Relationships xmlns="http://schemas.openxmlformats.org/package/2006/relationships"><Relationship Id="R2403ee377bf24d54" Type="http://schemas.openxmlformats.org/officeDocument/2006/relationships/presProps" Target="presProps.xml"/><Relationship Id="R257a6b133e734e76" Type="http://schemas.openxmlformats.org/officeDocument/2006/relationships/slideMaster" Target="slideMasters/slideMaster1.xml"/><Relationship Id="R4643ad08ad724dff" Type="http://schemas.openxmlformats.org/officeDocument/2006/relationships/theme" Target="theme/theme1.xml"/><Relationship Id="R4b7bfd43501e4187" Type="http://schemas.openxmlformats.org/officeDocument/2006/relationships/tableStyles" Target="tableStyles.xml"/><Relationship Id="Rbc83832983b5463b" Type="http://schemas.openxmlformats.org/officeDocument/2006/relationships/notesMaster" Target="notesMasters/notesMaster1.xml"/><Relationship Id="Rfa3fe3d09625471e" Type="http://schemas.openxmlformats.org/officeDocument/2006/relationships/viewProps" Target="viewProps.xml"/><Relationship Id="Rfe2c0a5d9f754a6a" Type="http://schemas.openxmlformats.org/officeDocument/2006/relationships/slideMaster" Target="slideMasters/slideMaster2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/Relationships>
</file>

<file path=ppt/notesMasters/_rels/notesMaster1.xml.rels><?xml version='1.0' encoding='UTF-8' standalone='yes'?>
<Relationships xmlns="http://schemas.openxmlformats.org/package/2006/relationships"><Relationship Id="Recb8d5aab9bc4248" Type="http://schemas.openxmlformats.org/officeDocument/2006/relationships/theme" Target="theme/theme4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uses every theme color as a hard band in the background.</a:t>
            </a:r>
          </a:p>
          <a:p>
            <a:r>
              <a:t>From top to bottom: Dark 1, Light 1, Dark 2, Light 2, Accent 1 through Accent 6, Hyperlink, and Followed Hyperlink.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Language labels select syntax coloring. The highlighted code remains editable PowerPoint text.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TypeScript highlights type declarations, keywords, strings, and numeric values.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HTML highlights tags, attribute names, quoted values, and comments.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CSS highlights selectors, property names, color values, and units.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downloading a remote image during rendering.</a:t>
            </a:r>
          </a:p>
          <a:p>
            <a:r>
              <a:t>[Sources]</a:t>
            </a:r>
          </a:p>
          <a:p>
            <a:r>
              <a:t>- https://raw.githubusercontent.com/github/explore/main/topics/python/python.png (Python logo)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demonstrates a full-slide background image on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intentionally demonstrates the Blank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single top-level thematic break separates the left and right placeholders.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Dark 1 supplies ordinary code. Accents 1, 2, and 3 supply keywords, values, and named tokens. Brightness is adjusted only as needed for 4.5 to 1 contrast.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Light 1 supplies ordinary code. The same accent slots are used with lighter variants where needed. Comments meet the same contrast target as other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16 by 16 grid estimates the background range beneath the content placeholder. HTML tags use Accent 1, values use Accent 2, and attributes use Accent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dark radial gradient demonstrates the light variant. Native theme references retain their slot and use brightness adjustments for the estimated background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b67cb4b70c8d4dec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50980c3dff974b39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1d472eccc3b040c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b456b81ad14b4dcf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48497423c7c54a7a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c80c955011a64d56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58acc42dbcb546bd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6cba100e7a0e420e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c093b58cdbe4483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06ae5e9c06d94404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77c51e203f8143e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4e053d118c214d5a" Type="http://schemas.openxmlformats.org/officeDocument/2006/relationships/slideMaster" Target="../slideMasters/slideMaster2.xml"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E0EFC93-8786-03A5-FF46-60AC373CF4F2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</p:spPr>
        <p:txBody>
          <a:bodyPr xmlns:a="http://schemas.openxmlformats.org/drawingml/2006/main" anchor="b"/>
          <a:lstStyle xmlns:a="http://schemas.openxmlformats.org/drawingml/2006/main">
            <a:lvl1pPr algn="ctr"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5CC48827-FAFE-757E-1BDE-A06E4510EB0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524000" y="3602038"/>
            <a:ext cx="9144000" cy="1655762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1693809F-6FD5-1B03-1567-1763DC11F53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62BC750-76C4-37C3-4C64-87D13E5FC9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FBCEC4E-AFC9-D7F0-CE75-B4633A0D3E7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47B371E-C732-84F9-BD3D-F382350F6C9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9099C3E-757B-E19D-4285-78E92C34588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D396C4F-1DE2-3AA4-9C9B-C75122B0B6E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D30F03-70A8-65F8-0B28-472538E3213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2B5102F-77D2-EA7A-2828-55575C441A7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B96A4C5-25EB-9DBF-9AE7-B4B50751A26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1F4BB36-C20B-2A12-776D-B8CF328A3F8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1DC8ECC-F7D5-73A7-B8E3-B1A0CA7D44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A2E49D5-1C9F-8D40-CCB4-B471C95281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4B6321D-21FC-FE13-115B-7AF14C02000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3357A5E-A34A-0C04-152E-1448113EB2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A92B90F-81A0-2A83-4F7C-F1C9B579C57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AC1E1D5-7ED1-2D69-071E-F87266FD0B34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31D40E98-9414-6423-290B-4D393029BA0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5492CC8-1E8A-086B-88FB-AE86F243CC3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67E5F9-26DA-4072-D5BB-1084A6A1C22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4CAB7B-46DD-FE93-9C9D-1D30555FC06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86AD5FF-026E-DD96-F130-348C21A5C0C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086DF69-2038-8BD6-CA4A-1E3BBE675643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BC9318A0-C4ED-7F91-CD79-9089D088ACFF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B771C1DB-9CB8-2692-9782-82569302F62C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7BDC32B4-BF9C-89B5-296C-7F0E74347B4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ABD5AFAD-62FA-AD1A-1E97-95C982D7BF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99730FC9-1B0B-E421-D011-9201EAE2A3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DE9C342-6914-9E17-B798-8659872DDEF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22F670CD-E95D-72AB-A97F-908471A0ED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5D6C3B5-CB93-F497-CA2F-F03AC985F6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702D53CC-6E53-168F-C009-49EEC83EB53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0B72EB3-4F17-5706-8B26-3235B26BCA4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3266D-F165-6DB3-9C5A-DF0901DD025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54A4B781-F948-D676-3548-31D67D40A7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881042-B979-E1A9-7DFA-48CA53E74CD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EC540C8C-D4A7-4F29-E296-5BE456BA58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E933AD6-C50B-8360-04D8-6DDA04E93ED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5A7AC5C1-0FE0-4F70-8F57-4DF471E1A0A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A302485-1CFA-0B33-3618-9AED445BB37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E209CB3-0932-74FD-8F06-528D05A9E36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94C83F8-CEC4-7941-A0F9-844FA16120C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BD214E2B-0179-1A01-582B-EFB5BB37A717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3D0B335-F7A1-F1F0-3588-8E5344EE66B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52C83E5-7ABA-5071-C4FF-CCD884099E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88F6AAE3-E4A3-7AB6-0605-B74031B079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CF5FC47-A572-8EC0-82F2-A82C8B53A64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12A80E8-FA40-761C-C204-D27DAF2EC64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4F587A76-E4B7-7F94-F8FF-CB53E8CB5D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32732A7-9B99-C553-881C-884C1E072FE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5AB7C5-17F0-6DCA-7C9A-A80259CB2D1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65C021F4-82F6-6D70-16D1-DB8A5BF9A58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BCFCB39-CC34-1B9C-6E89-D8EB45AC9E7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F778CF9-71D7-F3A2-6409-2117C055BAE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E17D1AE-0E61-EBCA-F251-4E08C554A4E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6AB61B56-D627-359F-ADE6-41AC5763ACA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63BA388-298F-82D3-1EDB-F9D8764A79F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D0387A3-D0F6-4944-90DD-EAC0C4F6A82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8796BE7C-654E-4D18-848D-B815DEB5C01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9675FB1-F886-4AE5-A4FB-1026BEA893B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ED6AE83-BBC3-4D2B-8EC0-B2B6C17C4EF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49F1031-F856-44C0-ABDB-46B15803216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</p:sldLayout>
</file>

<file path=ppt/slideMasters/_rels/slideMaster1.xml.rels><?xml version='1.0' encoding='UTF-8' standalone='yes'?>
<Relationships xmlns="http://schemas.openxmlformats.org/package/2006/relationships"><Relationship Id="R2a23e01c2b964ac9" Type="http://schemas.openxmlformats.org/officeDocument/2006/relationships/slideLayout" Target="../slideLayouts/slideLayout7.xml"/><Relationship Id="R2ab4a3697f914079" Type="http://schemas.openxmlformats.org/officeDocument/2006/relationships/theme" Target="theme/theme2.xml"/><Relationship Id="R34bbff6b3fd241e0" Type="http://schemas.openxmlformats.org/officeDocument/2006/relationships/slideLayout" Target="../slideLayouts/slideLayout10.xml"/><Relationship Id="R4108fd965e304035" Type="http://schemas.openxmlformats.org/officeDocument/2006/relationships/slideLayout" Target="../slideLayouts/slideLayout4.xml"/><Relationship Id="R67fb8e06bbb74233" Type="http://schemas.openxmlformats.org/officeDocument/2006/relationships/slideLayout" Target="../slideLayouts/slideLayout6.xml"/><Relationship Id="R6d1712a483d14045" Type="http://schemas.openxmlformats.org/officeDocument/2006/relationships/slideLayout" Target="../slideLayouts/slideLayout9.xml"/><Relationship Id="R796594545dbe4220" Type="http://schemas.openxmlformats.org/officeDocument/2006/relationships/slideLayout" Target="../slideLayouts/slideLayout8.xml"/><Relationship Id="R9792dec0e8ea4606" Type="http://schemas.openxmlformats.org/officeDocument/2006/relationships/slideLayout" Target="../slideLayouts/slideLayout3.xml"/><Relationship Id="Rd31f680fa67d48b6" Type="http://schemas.openxmlformats.org/officeDocument/2006/relationships/slideLayout" Target="../slideLayouts/slideLayout11.xml"/><Relationship Id="Re5be6833617e488f" Type="http://schemas.openxmlformats.org/officeDocument/2006/relationships/slideLayout" Target="../slideLayouts/slideLayout2.xml"/><Relationship Id="Rf18a82e3e5e64b3d" Type="http://schemas.openxmlformats.org/officeDocument/2006/relationships/slideLayout" Target="../slideLayouts/slideLayout5.xml"/><Relationship Id="Rfa7ec47c039f43ce" Type="http://schemas.openxmlformats.org/officeDocument/2006/relationships/slideLayout" Target="../slideLayouts/slideLayout1.xml"/></Relationships>
</file>

<file path=ppt/slideMasters/_rels/slideMaster2.xml.rels><?xml version='1.0' encoding='UTF-8' standalone='yes'?>
<Relationships xmlns="http://schemas.openxmlformats.org/package/2006/relationships"><Relationship Id="R359d5ed17e60436b" Type="http://schemas.openxmlformats.org/officeDocument/2006/relationships/theme" Target="theme/theme3.xml"/><Relationship Id="R9ac0e3ffa6dd449e" Type="http://schemas.openxmlformats.org/officeDocument/2006/relationships/slideLayout" Target="../slideLayouts/slideLayout12.xml"/></Relationships>
</file>

<file path=ppt/slideMasters/slideMaster1.xml><?xml version="1.0" encoding="utf-8"?>
<p:sldMaster xmlns:p="http://schemas.openxmlformats.org/presentationml/2006/main">
  <p:cSld>
    <p:bg>
      <p:bgPr xmlns:a="http://schemas.openxmlformats.org/drawingml/2006/main">
        <a:gradFill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72CBAE84-EA4C-C8F8-3709-EDD14D1F56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594B1F3-85AD-9F78-4219-27AB7B47AEF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789BC02-5FD5-5699-6FDA-44B4FBD1DEA1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AF316B89-3F62-F24C-2EE3-C5284C7EAB84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8F17629-D3CC-42DF-0750-5B632BDCD471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a7ec47c039f43ce"/>
    <p:sldLayoutId xmlns:r="http://schemas.openxmlformats.org/officeDocument/2006/relationships" id="2147483650" r:id="Re5be6833617e488f"/>
    <p:sldLayoutId xmlns:r="http://schemas.openxmlformats.org/officeDocument/2006/relationships" id="2147483651" r:id="R9792dec0e8ea4606"/>
    <p:sldLayoutId xmlns:r="http://schemas.openxmlformats.org/officeDocument/2006/relationships" id="2147483652" r:id="R4108fd965e304035"/>
    <p:sldLayoutId xmlns:r="http://schemas.openxmlformats.org/officeDocument/2006/relationships" id="2147483653" r:id="Rf18a82e3e5e64b3d"/>
    <p:sldLayoutId xmlns:r="http://schemas.openxmlformats.org/officeDocument/2006/relationships" id="2147483654" r:id="R67fb8e06bbb74233"/>
    <p:sldLayoutId xmlns:r="http://schemas.openxmlformats.org/officeDocument/2006/relationships" id="2147483655" r:id="R2a23e01c2b964ac9"/>
    <p:sldLayoutId xmlns:r="http://schemas.openxmlformats.org/officeDocument/2006/relationships" id="2147483656" r:id="R796594545dbe4220"/>
    <p:sldLayoutId xmlns:r="http://schemas.openxmlformats.org/officeDocument/2006/relationships" id="2147483657" r:id="R6d1712a483d14045"/>
    <p:sldLayoutId xmlns:r="http://schemas.openxmlformats.org/officeDocument/2006/relationships" id="2147483658" r:id="R34bbff6b3fd241e0"/>
    <p:sldLayoutId xmlns:r="http://schemas.openxmlformats.org/officeDocument/2006/relationships" id="2147483659" r:id="Rd31f680fa67d48b6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p="http://schemas.openxmlformats.org/presentationml/2006/main">
  <p:cSld name="Showcase Alternate">
    <p:bg>
      <p:bgPr>
        <a:gradFill xmlns:a="http://schemas.openxmlformats.org/drawingml/2006/main" rotWithShape="1">
          <a:gsLst>
            <a:gs pos="0">
              <a:srgbClr val="F3FAFF"/>
            </a:gs>
            <a:gs pos="54000">
              <a:srgbClr val="E6F4FF"/>
            </a:gs>
            <a:gs pos="100000">
              <a:srgbClr val="FFE7BF"/>
            </a:gs>
          </a:gsLst>
          <a:lin ang="16200000" scaled="0"/>
        </a:gra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9DBD5440-81DE-4125-BFCA-1F0A6F9758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D5AC8E2-5AD2-4038-8795-E9DD85339A0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39A8D43-E25A-437D-8C1B-42ACE45ACC6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620A7771-9D5A-4D61-8C66-60C88DB26C70}" type="datetimeFigureOut">
              <a:t>4/20/2026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87D6C8F-E122-441D-85AE-BAD1583A4EA5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5C8BD47-8872-45F8-9C11-7C7B5D4AC1EB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6106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 xmlns:a="http://schemas.openxmlformats.org/drawingml/2006/main">
            <a:fld id="{E087E326-E539-492D-9221-BBF0DE375B25}" type="slidenum">
              <a:t>‹#›</a:t>
            </a:fld>
            <a:endParaRPr/>
          </a:p>
        </p:txBody>
      </p:sp>
      <p:sp>
        <p:nvSpPr>
          <p:cNvPr id="12" name="alternate-master-accent">
            <a:extLst xmlns:a="http://schemas.openxmlformats.org/drawingml/2006/main">
              <a:ext uri="{FF2B5EF4-FFF2-40B4-BE49-F238E27FC236}">
                <a16:creationId xmlns:a16="http://schemas.microsoft.com/office/drawing/2014/main" id="{2E668EBD-2B38-4C86-8681-513DF9DAC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347"/>
          </a:solidFill>
          <a:ln xmlns:a="http://schemas.openxmlformats.org/drawingml/2006/main" w="0">
            <a:noFill/>
            <a:prstDash val="solid"/>
          </a:ln>
        </p:spPr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61" r:id="R9ac0e3ffa6dd449e"/>
  </p:sldLayoutIdLst>
</p:sldMaster>
</file>

<file path=ppt/slideMasters/theme/theme2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Masters/theme/theme3.xml><?xml version="1.0" encoding="utf-8"?>
<a:theme xmlns:a="http://schemas.openxmlformats.org/drawingml/2006/main" name="Office Theme">
  <a:themeElements>
    <a:clrScheme name="Custom">
      <a:dk1>
        <a:srgbClr val="10263F"/>
      </a:dk1>
      <a:lt1>
        <a:srgbClr val="F9F9F9"/>
      </a:lt1>
      <a:dk2>
        <a:srgbClr val="355A78"/>
      </a:dk2>
      <a:lt2>
        <a:srgbClr val="EEF8FF"/>
      </a:lt2>
      <a:accent1>
        <a:srgbClr val="1D6FA8"/>
      </a:accent1>
      <a:accent2>
        <a:srgbClr val="5AA9E6"/>
      </a:accent2>
      <a:accent3>
        <a:srgbClr val="7FC8F8"/>
      </a:accent3>
      <a:accent4>
        <a:srgbClr val="FFB347"/>
      </a:accent4>
      <a:accent5>
        <a:srgbClr val="FF6392"/>
      </a:accent5>
      <a:accent6>
        <a:srgbClr val="144F79"/>
      </a:accent6>
      <a:hlink>
        <a:srgbClr val="1D6FA8"/>
      </a:hlink>
      <a:folHlink>
        <a:srgbClr val="355A78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Relationship Id="rId3" Type="http://schemas.openxmlformats.org/officeDocument/2006/relationships/hyperlink" Target="https://python-pptx.readthedocs.io/en/latest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github.com/pseudosavant/markdown-pptx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Relationship Id="rId3" Type="http://schemas.openxmlformats.org/officeDocument/2006/relationships/hyperlink" Target="https://github.com/pseudosavant/markdown-pptx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markdown-pptx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in. Editable PowerPoint 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What markdown-pptx is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converts constrained Markdown slide decks into editable PowerPoint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presentations.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 uses real PowerPoint layouts and placeholders, so the output stays easy to edit in PowerPoint instead of becoming a pile of free-positioned text boxes.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How the format works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optional document front matter block sets deck-wide defaults such as aspect ratio, fonts, colors, and background behavior.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ATX </a:t>
            </a:r>
            <a:r>
              <a:rPr b="0" i="0">
                <a:solidFill>
                  <a:schemeClr val="dk1"/>
                </a:solidFill>
                <a:latin typeface="Consolas"/>
              </a:rPr>
              <a:t># H1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or Setext H1 starts a new slide. Optional slide front matter appears immediately after the heading. Everything until the next H1 belongs to that slide.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Basic CLI usage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write </a:t>
            </a:r>
            <a:r>
              <a:rPr b="0" i="0">
                <a:solidFill>
                  <a:schemeClr val="dk1"/>
                </a:solidFill>
                <a:latin typeface="Consolas"/>
              </a:rPr>
              <a:t>deck.pptx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next to the source markdown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deck.md out.pptx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choose the output path, </a:t>
            </a:r>
            <a:r>
              <a:rPr b="0" i="0">
                <a:solidFill>
                  <a:schemeClr val="dk1"/>
                </a:solidFill>
                <a:latin typeface="Consolas"/>
              </a:rPr>
              <a:t>--template theme.pptx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render against an existing PowerPoint template, and </a:t>
            </a:r>
            <a:r>
              <a:rPr b="0" i="0">
                <a:solidFill>
                  <a:schemeClr val="dk1"/>
                </a:solidFill>
                <a:latin typeface="Consolas"/>
              </a:rPr>
              <a:t>--force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overwrite an existing file.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with no arguments for the quick reference or use </a:t>
            </a:r>
            <a:r>
              <a:rPr b="0" i="0">
                <a:solidFill>
                  <a:schemeClr val="dk1"/>
                </a:solidFill>
                <a:latin typeface="Consolas"/>
              </a:rPr>
              <a:t>--about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project metadata.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Inspection-friendly CLI modes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Use </a:t>
            </a:r>
            <a:r>
              <a:rPr b="0" i="0">
                <a:solidFill>
                  <a:schemeClr val="dk1"/>
                </a:solidFill>
                <a:latin typeface="Consolas"/>
              </a:rPr>
              <a:t>--syntax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print the supported deck format,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--list-masters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a template's slide masters, </a:t>
            </a:r>
            <a:r>
              <a:rPr b="0" i="0">
                <a:solidFill>
                  <a:schemeClr val="dk1"/>
                </a:solidFill>
                <a:latin typeface="Consolas"/>
              </a:rPr>
              <a:t>--list-layouts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inspect layouts on a selected master, and </a:t>
            </a:r>
            <a:r>
              <a:rPr b="0" i="0">
                <a:solidFill>
                  <a:schemeClr val="dk1"/>
                </a:solidFill>
                <a:latin typeface="Consolas"/>
              </a:rPr>
              <a:t>--list-color-schemes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see the built-in theme presets.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Add </a:t>
            </a:r>
            <a:r>
              <a:rPr b="0" i="0">
                <a:solidFill>
                  <a:schemeClr val="dk1"/>
                </a:solidFill>
                <a:latin typeface="Consolas"/>
              </a:rPr>
              <a:t>--json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for structured results. Master and layout inspection report names, indices, placeholder inventory, and compatibility so people and coding agents can discover valid inputs before generating a deck.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Master and layout selection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template's </a:t>
            </a:r>
            <a:r>
              <a:rPr b="0" i="0">
                <a:solidFill>
                  <a:schemeClr val="dk1"/>
                </a:solidFill>
                <a:latin typeface="Consolas"/>
              </a:rPr>
              <a:t>Showcase Alternate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master while the rest of the deck defaults to master 1. Templates keep every embedded master in the output.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Master selection uses slide metadata first, then the CLI default, then master 1. Layout names are resolved within the selected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Agent skill support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install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install the managed agent skill under </a:t>
            </a:r>
            <a:r>
              <a:rPr b="0" i="0">
                <a:solidFill>
                  <a:schemeClr val="dk1"/>
                </a:solidFill>
                <a:latin typeface="Consolas"/>
              </a:rPr>
              <a:t>~/.agents/skills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or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skill remove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remove it safely.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skill teaches agents to inspect syntax, masters, and layouts; prefer structured output; respect overwrite safety; and handle local or remote images predictably.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Color and template control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Markdown can set document-level and slide-level colors with </a:t>
            </a:r>
            <a:r>
              <a:rPr b="0" i="0">
                <a:solidFill>
                  <a:schemeClr val="dk1"/>
                </a:solidFill>
                <a:latin typeface="Consolas"/>
              </a:rPr>
              <a:t>color_scheme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title_color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body_color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background values such as solid colors, gradients, and images.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When a template already has the colors you want,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--ignore-document-colors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</a:t>
            </a:r>
            <a:r>
              <a:rPr b="0" i="0">
                <a:solidFill>
                  <a:schemeClr val="dk1"/>
                </a:solidFill>
                <a:latin typeface="Consolas"/>
              </a:rPr>
              <a:t>--ignore-slide-colors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let the template remain the source of truth for those color settings.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DEE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1D72AA"/>
                </a:solidFill>
              </a:defRPr>
            </a:pPr>
            <a:r>
              <a:rPr>
                <a:solidFill>
                  <a:srgbClr val="1D72AA"/>
                </a:solidFill>
              </a:rPr>
              <a:t>Supported color formats</a:t>
            </a:r>
            <a:endParaRPr>
              <a:solidFill>
                <a:srgbClr val="1D72AA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10263F"/>
                </a:solidFill>
              </a:defRPr>
            </a:pP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Colors accept short or long hex, RGB, HSL, and PowerPoint theme references such as </a:t>
            </a:r>
            <a:r>
              <a:rPr b="0" i="0">
                <a:solidFill>
                  <a:srgbClr val="10263F"/>
                </a:solidFill>
                <a:latin typeface="Consolas"/>
              </a:rPr>
              <a:t>var(--accent-1)</a:t>
            </a:r>
            <a:r>
              <a:rPr b="0" i="0">
                <a:solidFill>
                  <a:srgbClr val="10263F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rgbClr val="10263F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dk1"/>
            </a:gs>
            <a:gs pos="20000">
              <a:schemeClr val="dk1"/>
            </a:gs>
            <a:gs pos="20000">
              <a:schemeClr val="lt1"/>
            </a:gs>
            <a:gs pos="27273">
              <a:schemeClr val="lt1"/>
            </a:gs>
            <a:gs pos="27273">
              <a:schemeClr val="dk2"/>
            </a:gs>
            <a:gs pos="34545">
              <a:schemeClr val="dk2"/>
            </a:gs>
            <a:gs pos="34545">
              <a:schemeClr val="lt2"/>
            </a:gs>
            <a:gs pos="41818">
              <a:schemeClr val="lt2"/>
            </a:gs>
            <a:gs pos="41818">
              <a:schemeClr val="accent1"/>
            </a:gs>
            <a:gs pos="49091">
              <a:schemeClr val="accent1"/>
            </a:gs>
            <a:gs pos="49091">
              <a:schemeClr val="accent2"/>
            </a:gs>
            <a:gs pos="56364">
              <a:schemeClr val="accent2"/>
            </a:gs>
            <a:gs pos="56364">
              <a:schemeClr val="accent3"/>
            </a:gs>
            <a:gs pos="63636">
              <a:schemeClr val="accent3"/>
            </a:gs>
            <a:gs pos="63636">
              <a:schemeClr val="accent4"/>
            </a:gs>
            <a:gs pos="70909">
              <a:schemeClr val="accent4"/>
            </a:gs>
            <a:gs pos="70909">
              <a:schemeClr val="accent5"/>
            </a:gs>
            <a:gs pos="78182">
              <a:schemeClr val="accent5"/>
            </a:gs>
            <a:gs pos="78182">
              <a:schemeClr val="accent6"/>
            </a:gs>
            <a:gs pos="85455">
              <a:schemeClr val="accent6"/>
            </a:gs>
            <a:gs pos="85455">
              <a:schemeClr val="hlink"/>
            </a:gs>
            <a:gs pos="92727">
              <a:schemeClr val="hlink"/>
            </a:gs>
            <a:gs pos="92727">
              <a:schemeClr val="folHlink"/>
            </a:gs>
            <a:gs pos="100000">
              <a:schemeClr val="folHlink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Every PowerPoint theme color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Feature examples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Each slide after this one isolates a single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feature.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Slide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Title Slide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Section Header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the Section Header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and Content layout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explicitly uses master 1 and its Title and Content layout.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Title Only layout</a:t>
            </a:r>
            <a:endParaRPr>
              <a:solidFill>
                <a:schemeClr val="accent6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Body text with hyperlinks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markdown-pptx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can include links in normal body text, such as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project repository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and the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3"/>
              </a:rPr>
              <a:t>python-pptx documentation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Inline text styling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Normal text can mix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strong with </a:t>
            </a:r>
            <a:r>
              <a:rPr b="1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nested italic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1">
                <a:solidFill>
                  <a:schemeClr val="dk1"/>
                </a:solidFill>
                <a:latin typeface="+mn-lt"/>
                <a:ea typeface="+mn-ea"/>
                <a:cs typeface="+mn-cs"/>
              </a:rPr>
              <a:t>italic emphasis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>
                <a:solidFill>
                  <a:schemeClr val="dk1"/>
                </a:solidFill>
                <a:latin typeface="Consolas"/>
              </a:rPr>
              <a:t>inline code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</a:t>
            </a:r>
            <a:r>
              <a:rPr b="0" i="0" strike="sngStrike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deleted text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H</a:t>
            </a:r>
            <a:r>
              <a:rPr b="0" i="0" baseline="-25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O, x</a:t>
            </a:r>
            <a:r>
              <a:rPr b="0" i="0" baseline="30000" sz="2000">
                <a:solidFill>
                  <a:schemeClr val="dk1"/>
                </a:solidFill>
                <a:latin typeface="+mn-lt"/>
                <a:ea typeface="+mn-ea"/>
                <a:cs typeface="+mn-cs"/>
              </a:rPr>
              <a:t>2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, and </a:t>
            </a:r>
            <a:r>
              <a:rPr b="1" i="0">
                <a:solidFill>
                  <a:schemeClr val="dk1"/>
                </a:solidFill>
                <a:latin typeface="+mn-lt"/>
                <a:ea typeface="+mn-ea"/>
                <a:cs typeface="+mn-cs"/>
                <a:hlinkClick r:id="rId2"/>
              </a:rPr>
              <a:t>formatted links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in the same editable placeholder.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 breaks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source line wraps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without forcing a visual break.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line ends here.</a:t>
            </a:r>
            <a:br/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next line stays in the same paragraph.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H2 through H6 headings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H2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4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H3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1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H4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9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H5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28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H6 heading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Setext H2 heading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Setext H1 slide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An H1 underline can start a slide without an ATX marker.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Bulleted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a readable Markdown deck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template if needed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 editable PowerPoint file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Nested lists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Inspect the template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Select a master</a:t>
            </a:r>
            <a:endParaRPr>
              <a:solidFill>
                <a:schemeClr val="dk1"/>
              </a:solidFill>
            </a:endParaRPr>
          </a:p>
          <a:p>
            <a:pPr lvl="2" marL="123444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Choose a compatible layout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</a:t>
            </a:r>
            <a:endParaRPr>
              <a:solidFill>
                <a:schemeClr val="dk1"/>
              </a:solidFill>
            </a:endParaRPr>
          </a:p>
          <a:p>
            <a:pPr lvl="1" marL="82296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Keep each slide focused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Render and review the PowerPoint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Numbered list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Write the markdown source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the CLI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3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Open the generated </a:t>
            </a:r>
            <a:r>
              <a:rPr b="0" i="0">
                <a:solidFill>
                  <a:schemeClr val="dk1"/>
                </a:solidFill>
                <a:latin typeface="Consolas"/>
              </a:rPr>
              <a:t>.pptx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Task lists and continuations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Create the editable deck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Review the slides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1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Begin with a numbered item</a:t>
            </a:r>
            <a:endParaRPr>
              <a:solidFill>
                <a:schemeClr val="dk1"/>
              </a:solidFill>
            </a:endParaRPr>
          </a:p>
          <a:p>
            <a:pPr marL="576072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Continue its explanation without another number.</a:t>
            </a:r>
            <a:endParaRPr>
              <a:solidFill>
                <a:schemeClr val="dk1"/>
              </a:solidFill>
            </a:endParaRPr>
          </a:p>
          <a:p>
            <a:pPr marL="576072" indent="-365760">
              <a:buAutoNum type="arabicPeriod" startAt="2"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Finish the sequence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Pipe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MarkdownSlidesTable"/>
          <p:cNvGraphicFramePr>
            <a:graphicFrameLocks noGrp="1"/>
          </p:cNvGraphicFramePr>
          <p:nvPr/>
        </p:nvGraphicFramePr>
        <p:xfrm>
          <a:off x="838200" y="1825625"/>
          <a:ext cx="10515600" cy="4351338"/>
        </p:xfrm>
        <a:graphic>
          <a:graphicData uri="http://schemas.openxmlformats.org/drawingml/2006/table">
            <a:tbl>
              <a:tblPr firstRow="1" bandRow="1" lastRow="1" firstCol="1" lastCol="1" bandCol="1">
                <a:tableStyleId>{B301B821-A1FF-4177-AEE7-76D212191A09}</a:tableStyleId>
              </a:tblPr>
              <a:tblGrid>
                <a:gridCol w="5257800"/>
                <a:gridCol w="5257800"/>
              </a:tblGrid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Markdown input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PowerPoint result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# H1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New slide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layout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Real slide layout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Master-specific layout group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notes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Editable speaker notes</a:t>
                      </a:r>
                    </a:p>
                  </a:txBody>
                  <a:tcPr/>
                </a:tc>
              </a:tr>
              <a:tr h="725223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All six native table-style flags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Blockquote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markdown-pptx keeps the source format simple enough to read directly while still producing a real presentation.</a:t>
            </a:r>
          </a:p>
          <a:p>
            <a:pPr marL="685800" indent="-201168">
              <a:spcBef>
                <a:spcPts val="600"/>
              </a:spcBef>
              <a:spcAft>
                <a:spcPts val="600"/>
              </a:spcAft>
            </a:pPr>
            <a:r>
              <a:rPr b="0" i="1">
                <a:solidFill>
                  <a:schemeClr val="accent1"/>
                </a:solidFill>
                <a:latin typeface="+mn-lt"/>
                <a:ea typeface="+mn-ea"/>
                <a:cs typeface="+mn-cs"/>
              </a:rPr>
              <a:t>Quoted lists keep their bullets.</a:t>
            </a:r>
          </a:p>
          <a:p>
            <a:pPr marL="274320" indent="0">
              <a:spcBef>
                <a:spcPts val="600"/>
              </a:spcBef>
              <a:spcAft>
                <a:spcPts val="600"/>
              </a:spcAft>
              <a:buNone/>
            </a:pPr>
            <a: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Code block: PowerShell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uvx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markdown</a:t>
            </a:r>
            <a:r>
              <a:rPr b="0" i="0">
                <a:solidFill>
                  <a:schemeClr val="dk1"/>
                </a:solidFill>
                <a:latin typeface="Consolas"/>
              </a:rPr>
              <a:t>-pptx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rgbClr val="008000"/>
                </a:solidFill>
                <a:latin typeface="Consolas"/>
              </a:rPr>
              <a:t>md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sample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0" i="0">
                <a:solidFill>
                  <a:schemeClr val="dk1"/>
                </a:solidFill>
                <a:latin typeface="Consolas"/>
              </a:rPr>
              <a:t>showcase</a:t>
            </a:r>
            <a:r>
              <a:rPr b="0" i="0">
                <a:solidFill>
                  <a:schemeClr val="dk1"/>
                </a:solidFill>
                <a:latin typeface="Consolas"/>
              </a:rPr>
              <a:t>-template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pptx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-force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Python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# Summarize completed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def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00FF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list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f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Completed </a:t>
            </a:r>
            <a:r>
              <a:rPr b="1" i="0">
                <a:solidFill>
                  <a:srgbClr val="A45A77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 tasks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br/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[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Design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Build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rgbClr val="BA2121"/>
                </a:solidFill>
                <a:latin typeface="Consolas"/>
              </a:rPr>
              <a:t>Review</a:t>
            </a:r>
            <a:r>
              <a:rPr b="0" i="0">
                <a:solidFill>
                  <a:srgbClr val="BA2121"/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]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if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len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&gt;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3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rgbClr val="008000"/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summarize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tasks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TypeScript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// Calculate the remaining work</a:t>
            </a:r>
            <a:br/>
            <a:r>
              <a:rPr b="1" i="0">
                <a:solidFill>
                  <a:srgbClr val="008000"/>
                </a:solidFill>
                <a:latin typeface="Consolas"/>
              </a:rPr>
              <a:t>type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string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number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=&gt;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return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008000"/>
                </a:solidFill>
                <a:latin typeface="Consolas"/>
              </a:rPr>
              <a:t>Math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max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666666"/>
                </a:solidFill>
                <a:latin typeface="Consolas"/>
              </a:rPr>
              <a:t>0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10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-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project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1" i="0">
                <a:solidFill>
                  <a:srgbClr val="008000"/>
                </a:solidFill>
                <a:latin typeface="Consolas"/>
              </a:rPr>
              <a:t>const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A2121"/>
                </a:solidFill>
                <a:latin typeface="Consolas"/>
              </a:rPr>
              <a:t>"Launch"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completed</a:t>
            </a:r>
            <a:r>
              <a:rPr b="0" i="0">
                <a:solidFill>
                  <a:srgbClr val="666666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B00040"/>
                </a:solidFill>
                <a:latin typeface="Consolas"/>
              </a:rPr>
              <a:t>7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console</a:t>
            </a:r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0" i="0">
                <a:solidFill>
                  <a:schemeClr val="dk1"/>
                </a:solidFill>
                <a:latin typeface="Consolas"/>
              </a:rPr>
              <a:t>log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rgbClr val="BA2121"/>
                </a:solidFill>
                <a:latin typeface="Consolas"/>
              </a:rPr>
              <a:t>Remaining: </a:t>
            </a:r>
            <a:r>
              <a:rPr b="1" i="0">
                <a:solidFill>
                  <a:srgbClr val="A45A77"/>
                </a:solidFill>
                <a:latin typeface="Consolas"/>
              </a:rPr>
              <a:t>${</a:t>
            </a:r>
            <a:r>
              <a:rPr b="0" i="0">
                <a:solidFill>
                  <a:schemeClr val="dk1"/>
                </a:solidFill>
                <a:latin typeface="Consolas"/>
              </a:rPr>
              <a:t>remaining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launch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1" i="0">
                <a:solidFill>
                  <a:srgbClr val="A45A77"/>
                </a:solidFill>
                <a:latin typeface="Consolas"/>
              </a:rPr>
              <a:t>}</a:t>
            </a:r>
            <a:r>
              <a:rPr b="0" i="0">
                <a:solidFill>
                  <a:srgbClr val="BA2121"/>
                </a:solidFill>
                <a:latin typeface="Consolas"/>
              </a:rPr>
              <a:t>`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HTML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&lt;!-- A compact project card --&gt;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class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"project-card"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id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"title"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Launch checklist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Three steps remain before release.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Review the preview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Publish the update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li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ul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87822"/>
                </a:solidFill>
                <a:latin typeface="Consolas"/>
              </a:rPr>
              <a:t>href</a:t>
            </a:r>
            <a:r>
              <a:rPr b="0" i="0">
                <a:solidFill>
                  <a:srgbClr val="666666"/>
                </a:solidFill>
                <a:latin typeface="Consolas"/>
              </a:rPr>
              <a:t>=</a:t>
            </a:r>
            <a:r>
              <a:rPr b="0" i="0">
                <a:solidFill>
                  <a:srgbClr val="BA2121"/>
                </a:solidFill>
                <a:latin typeface="Consolas"/>
              </a:rPr>
              <a:t>"/projects/launch"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View project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rgbClr val="008000"/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Syntax highlighting: CSS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rgbClr val="3D7B7B"/>
                </a:solidFill>
                <a:latin typeface="Consolas"/>
              </a:rPr>
              <a:t>/* Style the project card */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display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grid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gap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12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padding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24</a:t>
            </a:r>
            <a:r>
              <a:rPr b="0" i="0">
                <a:solidFill>
                  <a:srgbClr val="B00040"/>
                </a:solidFill>
                <a:latin typeface="Consolas"/>
              </a:rPr>
              <a:t>px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#10263f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1" i="0">
                <a:solidFill>
                  <a:srgbClr val="008000"/>
                </a:solidFill>
                <a:latin typeface="Consolas"/>
              </a:rPr>
              <a:t>background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#eef8ff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.</a:t>
            </a:r>
            <a:r>
              <a:rPr b="1" i="0">
                <a:solidFill>
                  <a:srgbClr val="0000FF"/>
                </a:solidFill>
                <a:latin typeface="Consolas"/>
              </a:rPr>
              <a:t>project-card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a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rgbClr val="AA22FF"/>
                </a:solidFill>
                <a:latin typeface="Consolas"/>
              </a:rPr>
              <a:t>hover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1" i="0">
                <a:solidFill>
                  <a:srgbClr val="008000"/>
                </a:solidFill>
                <a:latin typeface="Consolas"/>
              </a:rPr>
              <a:t>color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rgbClr val="666666"/>
                </a:solidFill>
                <a:latin typeface="Consolas"/>
              </a:rPr>
              <a:t>#1d6fa8</a:t>
            </a:r>
            <a:r>
              <a:rPr b="0" i="0">
                <a:solidFill>
                  <a:schemeClr val="dk1"/>
                </a:solidFill>
                <a:latin typeface="Consolas"/>
              </a:rPr>
              <a:t>;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}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Local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Local markdown-pptx sample image" title="Showcase image">
            <a:hlinkClick r:id="rId3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28144" y="1825625"/>
            <a:ext cx="7735712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Remote image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MarkdownSlidesImage" descr="Remote Python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331" y="1825625"/>
            <a:ext cx="4351338" cy="4351338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3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Background color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solid slide background color.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noFill/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Transparent background and hidden master graphics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removes its slide-level fill and hides the orange accent graphic inherited from the alternate master.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MarkdownSlidesBackgroundImage" descr="showcase-loc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48000">
              <a:schemeClr val="accent3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Linear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three-stop linear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2"/>
            </a:gs>
            <a:gs pos="58000">
              <a:schemeClr val="accent4"/>
            </a:gs>
            <a:gs pos="100000">
              <a:schemeClr val="lt1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Radial gradient background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This slide uses a radial gradient background.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chemeClr val="accent1"/>
            </a:gs>
            <a:gs pos="100000">
              <a:schemeClr val="accent4"/>
            </a:gs>
          </a:gsLst>
          <a:lin ang="162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lt1"/>
                </a:solidFill>
              </a:defRPr>
            </a:pPr>
            <a:r>
              <a:rPr>
                <a:solidFill>
                  <a:schemeClr val="lt1"/>
                </a:solidFill>
              </a:rPr>
              <a:t>Slide colors override document colors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lt1"/>
                </a:solidFill>
              </a:defRPr>
            </a:pPr>
            <a:r>
              <a:rPr b="0" i="0">
                <a:solidFill>
                  <a:schemeClr val="lt1"/>
                </a:solidFill>
                <a:latin typeface="+mn-lt"/>
                <a:ea typeface="+mn-ea"/>
                <a:cs typeface="+mn-cs"/>
              </a:rPr>
              <a:t>This slide overrides the document-level title and body colors.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Two content areas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First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Small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Quick feedback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Second option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Broader initial scope</a:t>
            </a:r>
            <a:endParaRPr>
              <a:solidFill>
                <a:schemeClr val="dk1"/>
              </a:solidFill>
            </a:endParaRPr>
          </a:p>
          <a:p>
            <a:pPr marL="411480" indent="-201168"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More preparation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Text beside a table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sz="3700" b="1" i="0">
                <a:solidFill>
                  <a:schemeClr val="dk1"/>
                </a:solidFill>
                <a:latin typeface="+mj-lt"/>
                <a:ea typeface="+mj-ea"/>
                <a:cs typeface="+mj-cs"/>
              </a:rPr>
              <a:t>Progress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☑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Design agreed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☐ 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Delivery scheduled</a:t>
            </a:r>
            <a:endParaRPr>
              <a:solidFill>
                <a:schemeClr val="dk1"/>
              </a:solidFill>
            </a:endParaRPr>
          </a:p>
        </p:txBody>
      </p:sp>
      <p:sp>
        <p:nvSpPr>
          <p:cNvPr id="4" name="Content Placeholder 3"/>
          <p:cNvSpPr>
            <a:spLocks noGrp="1"/>
          </p:cNvSpPr>
          <p:nvPr>
            <p:ph idx="2"/>
          </p:nvPr>
        </p:nvSpPr>
        <p:spPr/>
        <p:txBody>
          <a:bodyPr/>
          <a:lstStyle/>
          <a:p/>
        </p:txBody>
      </p:sp>
      <p:graphicFrame>
        <p:nvGraphicFramePr>
          <p:cNvPr id="5" name="MarkdownSlidesTable"/>
          <p:cNvGraphicFramePr>
            <a:graphicFrameLocks noGrp="1"/>
          </p:cNvGraphicFramePr>
          <p:nvPr/>
        </p:nvGraphicFramePr>
        <p:xfrm>
          <a:off x="6172200" y="1825625"/>
          <a:ext cx="5181600" cy="4351338"/>
        </p:xfrm>
        <a:graphic>
          <a:graphicData uri="http://schemas.openxmlformats.org/drawingml/2006/table">
            <a:tbl>
              <a:tblPr firstRow="1" bandRow="1" firstCol="1">
                <a:tableStyleId>{B301B821-A1FF-4177-AEE7-76D212191A09}</a:tableStyleId>
              </a:tblPr>
              <a:tblGrid>
                <a:gridCol w="2590800"/>
                <a:gridCol w="2590800"/>
              </a:tblGrid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Milestone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Status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Design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Complete</a:t>
                      </a:r>
                    </a:p>
                  </a:txBody>
                  <a:tcPr/>
                </a:tc>
              </a:tr>
              <a:tr h="1450446"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Delivery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>
                          <a:latin typeface="+mn-lt"/>
                          <a:ea typeface="+mn-ea"/>
                          <a:cs typeface="+mn-cs"/>
                        </a:rPr>
                        <a:t>Planned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Theme syntax: dark colors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Consolas"/>
              </a:rPr>
              <a:t>code_highlighting: theme-dark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on a white background.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chemeClr val="dk1"/>
                </a:solidFill>
                <a:latin typeface="Consolas"/>
              </a:rPr>
              <a:t># Colors follow this deck's blue theme</a:t>
            </a:r>
            <a:br/>
            <a:r>
              <a:rPr b="1" i="0">
                <a:solidFill>
                  <a:schemeClr val="accent1"/>
                </a:solidFill>
                <a:latin typeface="Consolas"/>
              </a:rPr>
              <a:t>def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greet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str</a:t>
            </a:r>
            <a:r>
              <a:rPr b="0" i="0">
                <a:solidFill>
                  <a:schemeClr val="dk1"/>
                </a:solidFill>
                <a:latin typeface="Consolas"/>
              </a:rPr>
              <a:t>,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int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3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</a:t>
            </a:r>
            <a:r>
              <a:rPr b="1" i="0">
                <a:solidFill>
                  <a:schemeClr val="accent1"/>
                </a:solidFill>
                <a:latin typeface="Consolas"/>
              </a:rPr>
              <a:t>for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index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dk1"/>
                </a:solidFill>
                <a:latin typeface="Consolas"/>
              </a:rPr>
              <a:t>in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range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dk1"/>
                </a:solidFill>
                <a:latin typeface="Consolas"/>
              </a:rPr>
              <a:t>count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r>
              <a:rPr b="0" i="0">
                <a:solidFill>
                  <a:schemeClr val="dk1"/>
                </a:solidFill>
                <a:latin typeface="Consolas"/>
              </a:rPr>
              <a:t>: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      </a:t>
            </a:r>
            <a:r>
              <a:rPr b="0" i="0">
                <a:solidFill>
                  <a:schemeClr val="accent3">
                    <a:lumMod val="55575"/>
                  </a:schemeClr>
                </a:solidFill>
                <a:latin typeface="Consolas"/>
              </a:rPr>
              <a:t>print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f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Hello,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name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}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: 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{</a:t>
            </a:r>
            <a:r>
              <a:rPr b="0" i="0">
                <a:solidFill>
                  <a:schemeClr val="dk1"/>
                </a:solidFill>
                <a:latin typeface="Consolas"/>
              </a:rPr>
              <a:t>index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}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br/>
            <a:br/>
            <a:br/>
            <a:r>
              <a:rPr b="0" i="0">
                <a:solidFill>
                  <a:schemeClr val="dk1"/>
                </a:solidFill>
                <a:latin typeface="Consolas"/>
              </a:rPr>
              <a:t>greet</a:t>
            </a:r>
            <a:r>
              <a:rPr b="0" i="0">
                <a:solidFill>
                  <a:schemeClr val="dk1"/>
                </a:solidFill>
                <a:latin typeface="Consolas"/>
              </a:rPr>
              <a:t>(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PowerPoint</a:t>
            </a:r>
            <a:r>
              <a:rPr b="0" i="0">
                <a:solidFill>
                  <a:schemeClr val="accent2">
                    <a:lumMod val="69990"/>
                  </a:schemeClr>
                </a:solidFill>
                <a:latin typeface="Consolas"/>
              </a:rPr>
              <a:t>"</a:t>
            </a:r>
            <a:r>
              <a:rPr b="0" i="0">
                <a:solidFill>
                  <a:schemeClr val="dk1"/>
                </a:solidFill>
                <a:latin typeface="Consolas"/>
              </a:rPr>
              <a:t>)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63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Theme syntax: light colors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0">
                <a:solidFill>
                  <a:srgbClr val="FFFFFF"/>
                </a:solidFill>
                <a:latin typeface="Consolas"/>
              </a:rPr>
              <a:t>code_highlighting: theme-light</a:t>
            </a:r>
            <a:r>
              <a:rPr b="0" i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on a navy background.</a:t>
            </a:r>
            <a:endParaRPr>
              <a:solidFill>
                <a:srgbClr val="FFFFFF"/>
              </a:solidFill>
            </a:endParaRPr>
          </a:p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1">
                <a:solidFill>
                  <a:schemeClr val="lt1"/>
                </a:solidFill>
                <a:latin typeface="Consolas"/>
              </a:rPr>
              <a:t>// Editable theme colors on a dark slide</a:t>
            </a:r>
            <a:br/>
            <a:r>
              <a:rPr b="1" i="0">
                <a:solidFill>
                  <a:schemeClr val="accent1">
                    <a:lumMod val="80137"/>
                    <a:lumOff val="19863"/>
                  </a:schemeClr>
                </a:solidFill>
                <a:latin typeface="Consolas"/>
              </a:rPr>
              <a:t>interface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message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3"/>
                </a:solidFill>
                <a:latin typeface="Consolas"/>
              </a:rPr>
              <a:t>string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br/>
            <a:r>
              <a:rPr b="1" i="0">
                <a:solidFill>
                  <a:schemeClr val="accent1">
                    <a:lumMod val="80137"/>
                    <a:lumOff val="19863"/>
                  </a:schemeClr>
                </a:solidFill>
                <a:latin typeface="Consolas"/>
              </a:rPr>
              <a:t>const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=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name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3"/>
                </a:solidFill>
                <a:latin typeface="Consolas"/>
              </a:rPr>
              <a:t>string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=&gt;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0" i="0">
                <a:solidFill>
                  <a:schemeClr val="lt1"/>
                </a:solidFill>
                <a:latin typeface="Consolas"/>
              </a:rPr>
              <a:t>message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/>
                </a:solidFill>
                <a:latin typeface="Consolas"/>
              </a:rPr>
              <a:t>`</a:t>
            </a:r>
            <a:r>
              <a:rPr b="0" i="0">
                <a:solidFill>
                  <a:schemeClr val="accent2"/>
                </a:solidFill>
                <a:latin typeface="Consolas"/>
              </a:rPr>
              <a:t>Hello, </a:t>
            </a:r>
            <a:r>
              <a:rPr b="0" i="0">
                <a:solidFill>
                  <a:schemeClr val="accent2"/>
                </a:solidFill>
                <a:latin typeface="Consolas"/>
              </a:rPr>
              <a:t>${</a:t>
            </a:r>
            <a:r>
              <a:rPr b="0" i="0">
                <a:solidFill>
                  <a:schemeClr val="lt1"/>
                </a:solidFill>
                <a:latin typeface="Consolas"/>
              </a:rPr>
              <a:t>name</a:t>
            </a:r>
            <a:r>
              <a:rPr b="0" i="0">
                <a:solidFill>
                  <a:schemeClr val="accent2"/>
                </a:solidFill>
                <a:latin typeface="Consolas"/>
              </a:rPr>
              <a:t>}</a:t>
            </a:r>
            <a:r>
              <a:rPr b="0" i="0">
                <a:solidFill>
                  <a:schemeClr val="accent2"/>
                </a:solidFill>
                <a:latin typeface="Consolas"/>
              </a:rPr>
              <a:t>`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br/>
            <a:r>
              <a:rPr b="0" i="0">
                <a:solidFill>
                  <a:schemeClr val="lt1"/>
                </a:solidFill>
                <a:latin typeface="Consolas"/>
              </a:rPr>
              <a:t>console</a:t>
            </a:r>
            <a:r>
              <a:rPr b="0" i="0">
                <a:solidFill>
                  <a:schemeClr val="lt1"/>
                </a:solidFill>
                <a:latin typeface="Consolas"/>
              </a:rPr>
              <a:t>.</a:t>
            </a:r>
            <a:r>
              <a:rPr b="0" i="0">
                <a:solidFill>
                  <a:schemeClr val="lt1"/>
                </a:solidFill>
                <a:latin typeface="Consolas"/>
              </a:rPr>
              <a:t>log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lt1"/>
                </a:solidFill>
                <a:latin typeface="Consolas"/>
              </a:rPr>
              <a:t>greet</a:t>
            </a:r>
            <a:r>
              <a:rPr b="0" i="0">
                <a:solidFill>
                  <a:schemeClr val="lt1"/>
                </a:solidFill>
                <a:latin typeface="Consolas"/>
              </a:rPr>
              <a:t>(</a:t>
            </a:r>
            <a:r>
              <a:rPr b="0" i="0">
                <a:solidFill>
                  <a:schemeClr val="accent2"/>
                </a:solidFill>
                <a:latin typeface="Consolas"/>
              </a:rPr>
              <a:t>"PowerPoint"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)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FFFFFF"/>
            </a:gs>
            <a:gs pos="100000">
              <a:srgbClr val="D8EBFF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Theme syntax: a light gradient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The background range guides the brightness adjustments.</a:t>
            </a:r>
            <a:endParaRPr>
              <a:solidFill>
                <a:schemeClr val="dk1"/>
              </a:solidFill>
            </a:endParaRPr>
          </a:p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1">
                <a:solidFill>
                  <a:schemeClr val="dk1"/>
                </a:solidFill>
                <a:latin typeface="Consolas"/>
              </a:rPr>
              <a:t>&lt;!-- Theme colors stay editable --&gt;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49725"/>
                  </a:schemeClr>
                </a:solidFill>
                <a:latin typeface="Consolas"/>
              </a:rPr>
              <a:t>class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accent2">
                    <a:lumMod val="62515"/>
                  </a:schemeClr>
                </a:solidFill>
                <a:latin typeface="Consolas"/>
              </a:rPr>
              <a:t>"greeting"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Hello, PowerPoint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h2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  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 </a:t>
            </a:r>
            <a:r>
              <a:rPr b="0" i="0">
                <a:solidFill>
                  <a:schemeClr val="accent3">
                    <a:lumMod val="49725"/>
                  </a:schemeClr>
                </a:solidFill>
                <a:latin typeface="Consolas"/>
              </a:rPr>
              <a:t>data-state</a:t>
            </a:r>
            <a:r>
              <a:rPr b="0" i="0">
                <a:solidFill>
                  <a:schemeClr val="dk1"/>
                </a:solidFill>
                <a:latin typeface="Consolas"/>
              </a:rPr>
              <a:t>=</a:t>
            </a:r>
            <a:r>
              <a:rPr b="0" i="0">
                <a:solidFill>
                  <a:schemeClr val="accent2">
                    <a:lumMod val="62515"/>
                  </a:schemeClr>
                </a:solidFill>
                <a:latin typeface="Consolas"/>
              </a:rPr>
              <a:t>"ready"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r>
              <a:rPr b="0" i="0">
                <a:solidFill>
                  <a:schemeClr val="dk1"/>
                </a:solidFill>
                <a:latin typeface="Consolas"/>
              </a:rPr>
              <a:t>Ready to present.</a:t>
            </a:r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p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br/>
            <a:r>
              <a:rPr b="0" i="0">
                <a:solidFill>
                  <a:schemeClr val="dk1"/>
                </a:solidFill>
                <a:latin typeface="Consolas"/>
              </a:rPr>
              <a:t>&lt;</a:t>
            </a:r>
            <a:r>
              <a:rPr b="0" i="0">
                <a:solidFill>
                  <a:schemeClr val="dk1"/>
                </a:solidFill>
                <a:latin typeface="Consolas"/>
              </a:rPr>
              <a:t>/</a:t>
            </a:r>
            <a:r>
              <a:rPr b="1" i="0">
                <a:solidFill>
                  <a:schemeClr val="accent1">
                    <a:lumMod val="99549"/>
                  </a:schemeClr>
                </a:solidFill>
                <a:latin typeface="Consolas"/>
              </a:rPr>
              <a:t>article</a:t>
            </a:r>
            <a:r>
              <a:rPr b="0" i="0">
                <a:solidFill>
                  <a:schemeClr val="dk1"/>
                </a:solidFill>
                <a:latin typeface="Consolas"/>
              </a:rPr>
              <a:t>&gt;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254D70"/>
            </a:gs>
            <a:gs pos="100000">
              <a:srgbClr val="102030"/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rPr>
                <a:solidFill>
                  <a:srgbClr val="FFFFFF"/>
                </a:solidFill>
              </a:rPr>
              <a:t>Theme syntax: a dark gradient</a:t>
            </a:r>
            <a:endParaRPr>
              <a:solidFill>
                <a:srgbClr val="FFFFFF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One palette is reused across all code blocks in this area.</a:t>
            </a:r>
            <a:endParaRPr>
              <a:solidFill>
                <a:srgbClr val="FFFFFF"/>
              </a:solidFill>
            </a:endParaRPr>
          </a:p>
          <a:p>
            <a:pPr marL="0" indent="0">
              <a:buNone/>
              <a:defRPr>
                <a:solidFill>
                  <a:srgbClr val="FFFFFF"/>
                </a:solidFill>
              </a:defRPr>
            </a:pPr>
            <a:r>
              <a:rPr b="0" i="1">
                <a:solidFill>
                  <a:schemeClr val="lt1"/>
                </a:solidFill>
                <a:latin typeface="Consolas"/>
              </a:rPr>
              <a:t>/* Presentation colors follow the theme */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.</a:t>
            </a:r>
            <a:r>
              <a:rPr b="0" i="0">
                <a:solidFill>
                  <a:schemeClr val="accent3"/>
                </a:solidFill>
                <a:latin typeface="Consolas"/>
              </a:rPr>
              <a:t>greeting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lt1"/>
                </a:solidFill>
                <a:latin typeface="Consolas"/>
              </a:rPr>
              <a:t>{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color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#1d6fa8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padding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24</a:t>
            </a:r>
            <a:r>
              <a:rPr b="0" i="0">
                <a:solidFill>
                  <a:schemeClr val="accent3"/>
                </a:solidFill>
                <a:latin typeface="Consolas"/>
              </a:rPr>
              <a:t>px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display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grid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  </a:t>
            </a:r>
            <a:r>
              <a:rPr b="1" i="0">
                <a:solidFill>
                  <a:schemeClr val="accent1">
                    <a:lumMod val="47936"/>
                    <a:lumOff val="52064"/>
                  </a:schemeClr>
                </a:solidFill>
                <a:latin typeface="Consolas"/>
              </a:rPr>
              <a:t>gap</a:t>
            </a:r>
            <a:r>
              <a:rPr b="0" i="0">
                <a:solidFill>
                  <a:schemeClr val="lt1"/>
                </a:solidFill>
                <a:latin typeface="Consolas"/>
              </a:rPr>
              <a:t>:</a:t>
            </a:r>
            <a:r>
              <a:rPr b="0" i="0">
                <a:solidFill>
                  <a:schemeClr val="lt1"/>
                </a:solidFill>
                <a:latin typeface="Consolas"/>
              </a:rPr>
              <a:t> </a:t>
            </a:r>
            <a:r>
              <a:rPr b="0" i="0">
                <a:solidFill>
                  <a:schemeClr val="accent2">
                    <a:lumMod val="77325"/>
                    <a:lumOff val="22675"/>
                  </a:schemeClr>
                </a:solidFill>
                <a:latin typeface="Consolas"/>
              </a:rPr>
              <a:t>12</a:t>
            </a:r>
            <a:r>
              <a:rPr b="0" i="0">
                <a:solidFill>
                  <a:schemeClr val="accent3"/>
                </a:solidFill>
                <a:latin typeface="Consolas"/>
              </a:rPr>
              <a:t>px</a:t>
            </a:r>
            <a:r>
              <a:rPr b="0" i="0">
                <a:solidFill>
                  <a:schemeClr val="lt1"/>
                </a:solidFill>
                <a:latin typeface="Consolas"/>
              </a:rPr>
              <a:t>;</a:t>
            </a:r>
            <a:br/>
            <a:r>
              <a:rPr b="0" i="0">
                <a:solidFill>
                  <a:schemeClr val="lt1"/>
                </a:solidFill>
                <a:latin typeface="Consolas"/>
              </a:rPr>
              <a:t>}</a:t>
            </a:r>
            <a:endParaRPr>
              <a:solidFill>
                <a:srgbClr val="FFFFFF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>
              <a:defRPr>
                <a:solidFill>
                  <a:schemeClr val="accent6"/>
                </a:solidFill>
              </a:defRPr>
            </a:pPr>
            <a:r>
              <a:rPr>
                <a:solidFill>
                  <a:schemeClr val="accent6"/>
                </a:solidFill>
              </a:rPr>
              <a:t>Markdown in. Editable PowerPoint out.</a:t>
            </a:r>
            <a:endParaRPr>
              <a:solidFill>
                <a:schemeClr val="accent6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wrap="square">
            <a:normAutofit/>
          </a:bodyPr>
          <a:lstStyle/>
          <a:p>
            <a:pPr marL="0" indent="0">
              <a:buNone/>
              <a:defRPr>
                <a:solidFill>
                  <a:schemeClr val="dk1"/>
                </a:solidFill>
              </a:defRPr>
            </a:pP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Run </a:t>
            </a:r>
            <a:r>
              <a:rPr b="0" i="0">
                <a:solidFill>
                  <a:schemeClr val="dk1"/>
                </a:solidFill>
                <a:latin typeface="Consolas"/>
              </a:rPr>
              <a:t>uvx markdown-pptx --help</a:t>
            </a:r>
            <a:r>
              <a:rPr b="0" i="0">
                <a:solidFill>
                  <a:schemeClr val="dk1"/>
                </a:solidFill>
                <a:latin typeface="+mn-lt"/>
                <a:ea typeface="+mn-ea"/>
                <a:cs typeface="+mn-cs"/>
              </a:rPr>
              <a:t> to get started.</a:t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2026-08-31T21:00:12.9780000Z</dcterms:created>
  <dcterms:modified xsi:type="dcterms:W3CDTF">2026-08-31T21:00:12.9780000Z</dcterms:modified>
</coreProperties>
</file>