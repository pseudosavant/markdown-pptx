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theme/theme2.xml" ContentType="application/vnd.openxmlformats-officedocument.theme+xml"/>
  <Override PartName="/ppt/slideMasters/theme/theme3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35f6341b1ff46d3" Type="http://schemas.openxmlformats.org/package/2006/relationships/metadata/core-properties" Target="docProps/core.xml"/><Relationship Id="Rac10a82ca2574cd5" Type="http://schemas.openxmlformats.org/officeDocument/2006/relationships/extended-properties" Target="docProps/app.xml"/><Relationship Id="Rfdfa8a98105a4c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7a6b133e734e76"/>
    <p:sldMasterId xmlns:r="http://schemas.openxmlformats.org/officeDocument/2006/relationships" id="2147483660" r:id="Rfe2c0a5d9f754a6a"/>
  </p:sldMasterIdLst>
  <p:notesMasterIdLst>
    <p:notesMasterId xmlns:r="http://schemas.openxmlformats.org/officeDocument/2006/relationships" r:id="Rbc83832983b5463b"/>
  </p:notesMasterIdLst>
  <p:sldIdLst>
    <p:sldId xmlns:ns0="http://schemas.openxmlformats.org/officeDocument/2006/relationships" id="256" ns0:id="rId8"/>
    <p:sldId xmlns:ns0="http://schemas.openxmlformats.org/officeDocument/2006/relationships" id="257" ns0:id="rId9"/>
    <p:sldId xmlns:ns0="http://schemas.openxmlformats.org/officeDocument/2006/relationships" id="258" ns0:id="rId10"/>
    <p:sldId xmlns:ns0="http://schemas.openxmlformats.org/officeDocument/2006/relationships" id="259" ns0:id="rId11"/>
    <p:sldId xmlns:ns0="http://schemas.openxmlformats.org/officeDocument/2006/relationships" id="260" ns0:id="rId12"/>
    <p:sldId xmlns:ns0="http://schemas.openxmlformats.org/officeDocument/2006/relationships" id="261" ns0:id="rId13"/>
    <p:sldId xmlns:ns0="http://schemas.openxmlformats.org/officeDocument/2006/relationships" id="262" ns0:id="rId14"/>
    <p:sldId xmlns:ns0="http://schemas.openxmlformats.org/officeDocument/2006/relationships" id="263" ns0:id="rId15"/>
    <p:sldId xmlns:ns0="http://schemas.openxmlformats.org/officeDocument/2006/relationships" id="264" ns0:id="rId16"/>
    <p:sldId xmlns:ns0="http://schemas.openxmlformats.org/officeDocument/2006/relationships" id="265" ns0:id="rId17"/>
    <p:sldId xmlns:ns0="http://schemas.openxmlformats.org/officeDocument/2006/relationships" id="266" ns0:id="rId18"/>
    <p:sldId xmlns:ns0="http://schemas.openxmlformats.org/officeDocument/2006/relationships" id="267" ns0:id="rId19"/>
    <p:sldId xmlns:ns0="http://schemas.openxmlformats.org/officeDocument/2006/relationships" id="268" ns0:id="rId20"/>
    <p:sldId xmlns:ns0="http://schemas.openxmlformats.org/officeDocument/2006/relationships" id="269" ns0:id="rId21"/>
    <p:sldId xmlns:ns0="http://schemas.openxmlformats.org/officeDocument/2006/relationships" id="270" ns0:id="rId22"/>
    <p:sldId xmlns:ns0="http://schemas.openxmlformats.org/officeDocument/2006/relationships" id="271" ns0:id="rId23"/>
    <p:sldId xmlns:ns0="http://schemas.openxmlformats.org/officeDocument/2006/relationships" id="272" ns0:id="rId24"/>
    <p:sldId xmlns:ns0="http://schemas.openxmlformats.org/officeDocument/2006/relationships" id="273" ns0:id="rId25"/>
    <p:sldId xmlns:ns0="http://schemas.openxmlformats.org/officeDocument/2006/relationships" id="274" ns0:id="rId26"/>
    <p:sldId xmlns:ns0="http://schemas.openxmlformats.org/officeDocument/2006/relationships" id="275" ns0:id="rId27"/>
    <p:sldId xmlns:ns0="http://schemas.openxmlformats.org/officeDocument/2006/relationships" id="276" ns0:id="rId28"/>
    <p:sldId xmlns:ns0="http://schemas.openxmlformats.org/officeDocument/2006/relationships" id="277" ns0:id="rId29"/>
    <p:sldId xmlns:ns0="http://schemas.openxmlformats.org/officeDocument/2006/relationships" id="278" ns0:id="rId30"/>
    <p:sldId xmlns:ns0="http://schemas.openxmlformats.org/officeDocument/2006/relationships" id="279" ns0:id="rId31"/>
    <p:sldId xmlns:ns0="http://schemas.openxmlformats.org/officeDocument/2006/relationships" id="280" ns0:id="rId32"/>
    <p:sldId xmlns:ns0="http://schemas.openxmlformats.org/officeDocument/2006/relationships" id="281" ns0:id="rId33"/>
    <p:sldId xmlns:ns0="http://schemas.openxmlformats.org/officeDocument/2006/relationships" id="282" ns0:id="rId34"/>
    <p:sldId xmlns:ns0="http://schemas.openxmlformats.org/officeDocument/2006/relationships" id="283" ns0:id="rId35"/>
    <p:sldId xmlns:ns0="http://schemas.openxmlformats.org/officeDocument/2006/relationships" id="284" ns0:id="rId36"/>
    <p:sldId xmlns:ns0="http://schemas.openxmlformats.org/officeDocument/2006/relationships" id="285" ns0:id="rId37"/>
    <p:sldId xmlns:ns0="http://schemas.openxmlformats.org/officeDocument/2006/relationships" id="286" ns0:id="rId38"/>
    <p:sldId xmlns:ns0="http://schemas.openxmlformats.org/officeDocument/2006/relationships" id="287" ns0:id="rId39"/>
    <p:sldId xmlns:ns0="http://schemas.openxmlformats.org/officeDocument/2006/relationships" id="288" ns0:id="rId40"/>
    <p:sldId xmlns:ns0="http://schemas.openxmlformats.org/officeDocument/2006/relationships" id="289" ns0:id="rId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403ee377bf24d54" Type="http://schemas.openxmlformats.org/officeDocument/2006/relationships/presProps" Target="presProps.xml"/><Relationship Id="R257a6b133e734e76" Type="http://schemas.openxmlformats.org/officeDocument/2006/relationships/slideMaster" Target="slideMasters/slideMaster1.xml"/><Relationship Id="R4643ad08ad724dff" Type="http://schemas.openxmlformats.org/officeDocument/2006/relationships/theme" Target="theme/theme1.xml"/><Relationship Id="R4b7bfd43501e4187" Type="http://schemas.openxmlformats.org/officeDocument/2006/relationships/tableStyles" Target="tableStyles.xml"/><Relationship Id="Rbc83832983b5463b" Type="http://schemas.openxmlformats.org/officeDocument/2006/relationships/notesMaster" Target="notesMasters/notesMaster1.xml"/><Relationship Id="Rfa3fe3d09625471e" Type="http://schemas.openxmlformats.org/officeDocument/2006/relationships/viewProps" Target="viewProps.xml"/><Relationship Id="Rfe2c0a5d9f754a6a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ecb8d5aab9bc4248" Type="http://schemas.openxmlformats.org/officeDocument/2006/relationships/theme" Target="theme/theme4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uses every theme color as a hard band in the background.</a:t>
            </a:r>
          </a:p>
          <a:p>
            <a:r>
              <a:t>From top to bottom: Dark 1, Light 1, Dark 2, Light 2, Accent 1 through Accent 6, Hyperlink, and Followed Hyperlink.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downloading a remote image during rendering.</a:t>
            </a:r>
          </a:p>
          <a:p>
            <a:r>
              <a:t>[Sources]</a:t>
            </a:r>
          </a:p>
          <a:p>
            <a:r>
              <a:t>- https://raw.githubusercontent.com/github/explore/main/topics/python/python.png (Python logo)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a full-slide background image on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intentionally demonstrates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b67cb4b70c8d4d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0980c3dff974b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d472eccc3b040c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56b81ad14b4dc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8497423c7c54a7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80c955011a64d5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8acc42dbcb546b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cba100e7a0e420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093b58cdbe4483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6ae5e9c06d9440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7c51e203f8143e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4e053d118c214d5a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387A3-D0F6-4944-90DD-EAC0C4F6A8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96BE7C-654E-4D18-848D-B815DEB5C0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675FB1-F886-4AE5-A4FB-1026BEA893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D6AE83-BBC3-4D2B-8EC0-B2B6C17C4E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9F1031-F856-44C0-ABDB-46B1580321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a23e01c2b964ac9" Type="http://schemas.openxmlformats.org/officeDocument/2006/relationships/slideLayout" Target="../slideLayouts/slideLayout7.xml"/><Relationship Id="R2ab4a3697f914079" Type="http://schemas.openxmlformats.org/officeDocument/2006/relationships/theme" Target="theme/theme2.xml"/><Relationship Id="R34bbff6b3fd241e0" Type="http://schemas.openxmlformats.org/officeDocument/2006/relationships/slideLayout" Target="../slideLayouts/slideLayout10.xml"/><Relationship Id="R4108fd965e304035" Type="http://schemas.openxmlformats.org/officeDocument/2006/relationships/slideLayout" Target="../slideLayouts/slideLayout4.xml"/><Relationship Id="R67fb8e06bbb74233" Type="http://schemas.openxmlformats.org/officeDocument/2006/relationships/slideLayout" Target="../slideLayouts/slideLayout6.xml"/><Relationship Id="R6d1712a483d14045" Type="http://schemas.openxmlformats.org/officeDocument/2006/relationships/slideLayout" Target="../slideLayouts/slideLayout9.xml"/><Relationship Id="R796594545dbe4220" Type="http://schemas.openxmlformats.org/officeDocument/2006/relationships/slideLayout" Target="../slideLayouts/slideLayout8.xml"/><Relationship Id="R9792dec0e8ea4606" Type="http://schemas.openxmlformats.org/officeDocument/2006/relationships/slideLayout" Target="../slideLayouts/slideLayout3.xml"/><Relationship Id="Rd31f680fa67d48b6" Type="http://schemas.openxmlformats.org/officeDocument/2006/relationships/slideLayout" Target="../slideLayouts/slideLayout11.xml"/><Relationship Id="Re5be6833617e488f" Type="http://schemas.openxmlformats.org/officeDocument/2006/relationships/slideLayout" Target="../slideLayouts/slideLayout2.xml"/><Relationship Id="Rf18a82e3e5e64b3d" Type="http://schemas.openxmlformats.org/officeDocument/2006/relationships/slideLayout" Target="../slideLayouts/slideLayout5.xml"/><Relationship Id="Rfa7ec47c039f43ce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359d5ed17e60436b" Type="http://schemas.openxmlformats.org/officeDocument/2006/relationships/theme" Target="theme/theme3.xml"/><Relationship Id="R9ac0e3ffa6dd449e" Type="http://schemas.openxmlformats.org/officeDocument/2006/relationships/slideLayout" Target="../slideLayouts/slideLayout12.xml"/></Relationships>
</file>

<file path=ppt/slideMasters/slideMaster1.xml><?xml version="1.0" encoding="utf-8"?>
<p:sldMaster xmlns:p="http://schemas.openxmlformats.org/presentationml/2006/main">
  <p:cSld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7ec47c039f43ce"/>
    <p:sldLayoutId xmlns:r="http://schemas.openxmlformats.org/officeDocument/2006/relationships" id="2147483650" r:id="Re5be6833617e488f"/>
    <p:sldLayoutId xmlns:r="http://schemas.openxmlformats.org/officeDocument/2006/relationships" id="2147483651" r:id="R9792dec0e8ea4606"/>
    <p:sldLayoutId xmlns:r="http://schemas.openxmlformats.org/officeDocument/2006/relationships" id="2147483652" r:id="R4108fd965e304035"/>
    <p:sldLayoutId xmlns:r="http://schemas.openxmlformats.org/officeDocument/2006/relationships" id="2147483653" r:id="Rf18a82e3e5e64b3d"/>
    <p:sldLayoutId xmlns:r="http://schemas.openxmlformats.org/officeDocument/2006/relationships" id="2147483654" r:id="R67fb8e06bbb74233"/>
    <p:sldLayoutId xmlns:r="http://schemas.openxmlformats.org/officeDocument/2006/relationships" id="2147483655" r:id="R2a23e01c2b964ac9"/>
    <p:sldLayoutId xmlns:r="http://schemas.openxmlformats.org/officeDocument/2006/relationships" id="2147483656" r:id="R796594545dbe4220"/>
    <p:sldLayoutId xmlns:r="http://schemas.openxmlformats.org/officeDocument/2006/relationships" id="2147483657" r:id="R6d1712a483d14045"/>
    <p:sldLayoutId xmlns:r="http://schemas.openxmlformats.org/officeDocument/2006/relationships" id="2147483658" r:id="R34bbff6b3fd241e0"/>
    <p:sldLayoutId xmlns:r="http://schemas.openxmlformats.org/officeDocument/2006/relationships" id="2147483659" r:id="Rd31f680fa67d48b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howcase Alternate"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BD5440-81DE-4125-BFCA-1F0A6F975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5AC8E2-5AD2-4038-8795-E9DD85339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9A8D43-E25A-437D-8C1B-42ACE45ACC6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7D6C8F-E122-441D-85AE-BAD1583A4E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C8BD47-8872-45F8-9C11-7C7B5D4AC1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  <p:sp>
        <p:nvSpPr>
          <p:cNvPr id="12" name="alternate-master-accent">
            <a:extLst xmlns:a="http://schemas.openxmlformats.org/drawingml/2006/main">
              <a:ext uri="{FF2B5EF4-FFF2-40B4-BE49-F238E27FC236}">
                <a16:creationId xmlns:a16="http://schemas.microsoft.com/office/drawing/2014/main" id="{2E668EBD-2B38-4C86-8681-513DF9DA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347"/>
          </a:solidFill>
          <a:ln xmlns:a="http://schemas.openxmlformats.org/drawingml/2006/main" w="0">
            <a:noFill/>
            <a:prstDash val="solid"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9ac0e3ffa6dd449e"/>
  </p:sldLayoutIdLst>
</p:sldMaster>
</file>

<file path=ppt/slideMasters/theme/theme2.xml><?xml version="1.0" encoding="utf-8"?>
<ns0:theme xmlns:ns0="http://schemas.openxmlformats.org/drawingml/2006/main" name="Office Theme">
  <ns0:themeElements>
    <ns0:clrScheme name="Custom">
      <ns0:dk1>
        <ns0:srgbClr val="10263F"/>
      </ns0:dk1>
      <ns0:lt1>
        <ns0:srgbClr val="F9F9F9"/>
      </ns0:lt1>
      <ns0:dk2>
        <ns0:srgbClr val="355A78"/>
      </ns0:dk2>
      <ns0:lt2>
        <ns0:srgbClr val="EEF8FF"/>
      </ns0:lt2>
      <ns0:accent1>
        <ns0:srgbClr val="1D6FA8"/>
      </ns0:accent1>
      <ns0:accent2>
        <ns0:srgbClr val="5AA9E6"/>
      </ns0:accent2>
      <ns0:accent3>
        <ns0:srgbClr val="7FC8F8"/>
      </ns0:accent3>
      <ns0:accent4>
        <ns0:srgbClr val="FFB347"/>
      </ns0:accent4>
      <ns0:accent5>
        <ns0:srgbClr val="FF6392"/>
      </ns0:accent5>
      <ns0:accent6>
        <ns0:srgbClr val="144F79"/>
      </ns0:accent6>
      <ns0:hlink>
        <ns0:srgbClr val="1D6FA8"/>
      </ns0:hlink>
      <ns0:folHlink>
        <ns0:srgbClr val="355A78"/>
      </ns0:folHlink>
    </ns0:clrScheme>
    <ns0:fontScheme name="Office">
      <ns0:majorFont>
        <ns0:latin typeface="Aptos Display"/>
        <ns0:ea typeface=""/>
        <ns0:cs typeface=""/>
        <ns0:font script="Jpan" typeface="游ゴシック Light"/>
        <ns0:font script="Hang" typeface="맑은 고딕"/>
        <ns0:font script="Hans" typeface="等线 Light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Aptos"/>
        <ns0:ea typeface=""/>
        <ns0:cs typeface=""/>
        <ns0:font script="Jpan" typeface="游ゴシック"/>
        <ns0:font script="Hang" typeface="맑은 고딕"/>
        <ns0:font script="Hans" typeface="等线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67000"/>
                <ns0:lumMod val="110000"/>
                <ns0:satMod val="105000"/>
              </ns0:schemeClr>
            </ns0:gs>
            <ns0:gs pos="50000">
              <ns0:schemeClr val="phClr">
                <ns0:tint val="73000"/>
                <ns0:lumMod val="105000"/>
                <ns0:satMod val="103000"/>
              </ns0:schemeClr>
            </ns0:gs>
            <ns0:gs pos="100000">
              <ns0:schemeClr val="phClr">
                <ns0:tint val="81000"/>
                <ns0:lumMod val="105000"/>
                <ns0:satMod val="109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tint val="94000"/>
                <ns0:lumMod val="102000"/>
                <ns0:satMod val="103000"/>
              </ns0:schemeClr>
            </ns0:gs>
            <ns0:gs pos="50000">
              <ns0:schemeClr val="phClr">
                <ns0:shade val="100000"/>
                <ns0:lumMod val="100000"/>
                <ns0:satMod val="110000"/>
              </ns0:schemeClr>
            </ns0:gs>
            <ns0:gs pos="100000">
              <ns0:schemeClr val="phClr">
                <ns0:shade val="78000"/>
                <ns0:lumMod val="99000"/>
                <ns0:satMod val="120000"/>
              </ns0:schemeClr>
            </ns0:gs>
          </ns0:gsLst>
          <ns0:lin ang="5400000" scaled="0"/>
        </ns0:gradFill>
      </ns0:fillStyleLst>
      <ns0:lnStyleLst>
        <ns0:ln w="12700">
          <ns0:solidFill>
            <ns0:schemeClr val="phClr"/>
          </ns0:solidFill>
          <ns0:prstDash val="solid"/>
        </ns0:ln>
        <ns0:ln w="19050">
          <ns0:solidFill>
            <ns0:schemeClr val="phClr"/>
          </ns0:solidFill>
          <ns0:prstDash val="solid"/>
        </ns0:ln>
        <ns0:ln w="25400">
          <ns0:solidFill>
            <ns0:schemeClr val="phClr"/>
          </ns0:solidFill>
          <ns0:prstDash val="solid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hade val="98000"/>
                <ns0:lumMod val="102000"/>
                <ns0:satMod val="150000"/>
              </ns0:schemeClr>
            </ns0:gs>
            <ns0:gs pos="50000">
              <ns0:schemeClr val="phClr">
                <ns0:tint val="98000"/>
                <ns0:shade val="90000"/>
                <ns0:lumMod val="103000"/>
                <ns0:satMod val="130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</ns0:theme>
</file>

<file path=ppt/slideMasters/theme/theme3.xml><?xml version="1.0" encoding="utf-8"?>
<ns0:theme xmlns:ns0="http://schemas.openxmlformats.org/drawingml/2006/main" name="Office Theme">
  <ns0:themeElements>
    <ns0:clrScheme name="Custom">
      <ns0:dk1>
        <ns0:srgbClr val="10263F"/>
      </ns0:dk1>
      <ns0:lt1>
        <ns0:srgbClr val="F9F9F9"/>
      </ns0:lt1>
      <ns0:dk2>
        <ns0:srgbClr val="355A78"/>
      </ns0:dk2>
      <ns0:lt2>
        <ns0:srgbClr val="EEF8FF"/>
      </ns0:lt2>
      <ns0:accent1>
        <ns0:srgbClr val="1D6FA8"/>
      </ns0:accent1>
      <ns0:accent2>
        <ns0:srgbClr val="5AA9E6"/>
      </ns0:accent2>
      <ns0:accent3>
        <ns0:srgbClr val="7FC8F8"/>
      </ns0:accent3>
      <ns0:accent4>
        <ns0:srgbClr val="FFB347"/>
      </ns0:accent4>
      <ns0:accent5>
        <ns0:srgbClr val="FF6392"/>
      </ns0:accent5>
      <ns0:accent6>
        <ns0:srgbClr val="144F79"/>
      </ns0:accent6>
      <ns0:hlink>
        <ns0:srgbClr val="1D6FA8"/>
      </ns0:hlink>
      <ns0:folHlink>
        <ns0:srgbClr val="355A78"/>
      </ns0:folHlink>
    </ns0:clrScheme>
    <ns0:fontScheme name="Office">
      <ns0:majorFont>
        <ns0:latin typeface="Aptos Display"/>
        <ns0:ea typeface=""/>
        <ns0:cs typeface=""/>
        <ns0:font script="Jpan" typeface="游ゴシック Light"/>
        <ns0:font script="Hang" typeface="맑은 고딕"/>
        <ns0:font script="Hans" typeface="等线 Light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Aptos"/>
        <ns0:ea typeface=""/>
        <ns0:cs typeface=""/>
        <ns0:font script="Jpan" typeface="游ゴシック"/>
        <ns0:font script="Hang" typeface="맑은 고딕"/>
        <ns0:font script="Hans" typeface="等线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67000"/>
                <ns0:lumMod val="110000"/>
                <ns0:satMod val="105000"/>
              </ns0:schemeClr>
            </ns0:gs>
            <ns0:gs pos="50000">
              <ns0:schemeClr val="phClr">
                <ns0:tint val="73000"/>
                <ns0:lumMod val="105000"/>
                <ns0:satMod val="103000"/>
              </ns0:schemeClr>
            </ns0:gs>
            <ns0:gs pos="100000">
              <ns0:schemeClr val="phClr">
                <ns0:tint val="81000"/>
                <ns0:lumMod val="105000"/>
                <ns0:satMod val="109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tint val="94000"/>
                <ns0:lumMod val="102000"/>
                <ns0:satMod val="103000"/>
              </ns0:schemeClr>
            </ns0:gs>
            <ns0:gs pos="50000">
              <ns0:schemeClr val="phClr">
                <ns0:shade val="100000"/>
                <ns0:lumMod val="100000"/>
                <ns0:satMod val="110000"/>
              </ns0:schemeClr>
            </ns0:gs>
            <ns0:gs pos="100000">
              <ns0:schemeClr val="phClr">
                <ns0:shade val="78000"/>
                <ns0:lumMod val="99000"/>
                <ns0:satMod val="120000"/>
              </ns0:schemeClr>
            </ns0:gs>
          </ns0:gsLst>
          <ns0:lin ang="5400000" scaled="0"/>
        </ns0:gradFill>
      </ns0:fillStyleLst>
      <ns0:lnStyleLst>
        <ns0:ln w="12700">
          <ns0:solidFill>
            <ns0:schemeClr val="phClr"/>
          </ns0:solidFill>
          <ns0:prstDash val="solid"/>
        </ns0:ln>
        <ns0:ln w="19050">
          <ns0:solidFill>
            <ns0:schemeClr val="phClr"/>
          </ns0:solidFill>
          <ns0:prstDash val="solid"/>
        </ns0:ln>
        <ns0:ln w="25400">
          <ns0:solidFill>
            <ns0:schemeClr val="phClr"/>
          </ns0:solidFill>
          <ns0:prstDash val="solid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hade val="98000"/>
                <ns0:lumMod val="102000"/>
                <ns0:satMod val="150000"/>
              </ns0:schemeClr>
            </ns0:gs>
            <ns0:gs pos="50000">
              <ns0:schemeClr val="phClr">
                <ns0:tint val="98000"/>
                <ns0:shade val="90000"/>
                <ns0:lumMod val="103000"/>
                <ns0:satMod val="130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</ns0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hyperlink" Target="https://python-pptx.readthedocs.io/en/latest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markdown-pptx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Markdown in. Editable PowerPoint 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What markdown-pptx is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converts constrained Markdown slide decks into editable PowerPoint </a:t>
            </a:r>
            <a:r>
              <a:rPr b="0" i="0">
                <a:latin typeface="Consolas"/>
                <a:solidFill>
                  <a:schemeClr val="dk1"/>
                </a:solidFill>
              </a:rPr>
              <a:t>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presentations.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It uses real PowerPoint layouts and placeholders, so the output stays easy to edit in PowerPoint instead of becoming a pile of free-positioned text boxes.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How the format works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An optional document front matter block sets deck-wide defaults such as aspect ratio, fonts, colors, and background behavior.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Each </a:t>
            </a:r>
            <a:r>
              <a:rPr b="0" i="0">
                <a:latin typeface="Consolas"/>
                <a:solidFill>
                  <a:schemeClr val="dk1"/>
                </a:solidFill>
              </a:rPr>
              <a:t># H1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starts a new slide, optional slide front matter appears immediately after the H1, and everything until the next H1 becomes that slide's content.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Basic CLI usage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deck.md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write </a:t>
            </a:r>
            <a:r>
              <a:rPr b="0" i="0">
                <a:latin typeface="Consolas"/>
                <a:solidFill>
                  <a:schemeClr val="dk1"/>
                </a:solidFill>
              </a:rPr>
              <a:t>deck.pptx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next to the source markdown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Use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deck.md out.pptx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choose the output path, </a:t>
            </a:r>
            <a:r>
              <a:rPr b="0" i="0">
                <a:latin typeface="Consolas"/>
                <a:solidFill>
                  <a:schemeClr val="dk1"/>
                </a:solidFill>
              </a:rPr>
              <a:t>--template theme.pptx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render against an existing PowerPoint template, and </a:t>
            </a:r>
            <a:r>
              <a:rPr b="0" i="0">
                <a:latin typeface="Consolas"/>
                <a:solidFill>
                  <a:schemeClr val="dk1"/>
                </a:solidFill>
              </a:rPr>
              <a:t>--force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overwrite an existing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with no arguments for the quick reference or use </a:t>
            </a:r>
            <a:r>
              <a:rPr b="0" i="0">
                <a:latin typeface="Consolas"/>
                <a:solidFill>
                  <a:schemeClr val="dk1"/>
                </a:solidFill>
              </a:rPr>
              <a:t>--about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for project metadata.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Inspection-friendly CLI modes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Use </a:t>
            </a:r>
            <a:r>
              <a:rPr b="0" i="0">
                <a:latin typeface="Consolas"/>
                <a:solidFill>
                  <a:schemeClr val="dk1"/>
                </a:solidFill>
              </a:rPr>
              <a:t>--syntax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print the supported deck format, </a:t>
            </a:r>
            <a:r>
              <a:rPr b="0" i="0">
                <a:latin typeface="Consolas"/>
                <a:solidFill>
                  <a:schemeClr val="dk1"/>
                </a:solidFill>
              </a:rPr>
              <a:t>--list-masters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inspect a template's slide masters, </a:t>
            </a:r>
            <a:r>
              <a:rPr b="0" i="0">
                <a:latin typeface="Consolas"/>
                <a:solidFill>
                  <a:schemeClr val="dk1"/>
                </a:solidFill>
              </a:rPr>
              <a:t>--list-layouts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inspect layouts on a selected master, and </a:t>
            </a:r>
            <a:r>
              <a:rPr b="0" i="0">
                <a:latin typeface="Consolas"/>
                <a:solidFill>
                  <a:schemeClr val="dk1"/>
                </a:solidFill>
              </a:rPr>
              <a:t>--list-color-schemes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see the built-in theme presets.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Add </a:t>
            </a:r>
            <a:r>
              <a:rPr b="0" i="0">
                <a:latin typeface="Consolas"/>
                <a:solidFill>
                  <a:schemeClr val="dk1"/>
                </a:solidFill>
              </a:rPr>
              <a:t>--json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for structured results. Master and layout inspection report names, indices, placeholder inventory, and compatibility so people and coding agents can discover valid inputs before generating a deck.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Master and layout selection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template's </a:t>
            </a:r>
            <a:r>
              <a:rPr b="0" i="0">
                <a:latin typeface="Consolas"/>
                <a:solidFill>
                  <a:schemeClr val="dk1"/>
                </a:solidFill>
              </a:rPr>
              <a:t>Showcase Alternate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master while the rest of the deck defaults to master 1. Templates keep every embedded master in the output.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Master selection uses slide metadata first, then the CLI default, then master 1. Layout names are resolved within the selected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Agent skill support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skill install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install the managed agent skill under </a:t>
            </a:r>
            <a:r>
              <a:rPr b="0" i="0">
                <a:latin typeface="Consolas"/>
                <a:solidFill>
                  <a:schemeClr val="dk1"/>
                </a:solidFill>
              </a:rPr>
              <a:t>~/.agents/skills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or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skill remove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remove it safely.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The skill teaches agents to inspect syntax, masters, and layouts; prefer structured output; respect overwrite safety; and handle local or remote images predictably.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Color and template control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Markdown can set document-level and slide-level colors with </a:t>
            </a:r>
            <a:r>
              <a:rPr b="0" i="0">
                <a:latin typeface="Consolas"/>
                <a:solidFill>
                  <a:schemeClr val="dk1"/>
                </a:solidFill>
              </a:rPr>
              <a:t>color_scheme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0">
                <a:latin typeface="Consolas"/>
                <a:solidFill>
                  <a:schemeClr val="dk1"/>
                </a:solidFill>
              </a:rPr>
              <a:t>title_color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0">
                <a:latin typeface="Consolas"/>
                <a:solidFill>
                  <a:schemeClr val="dk1"/>
                </a:solidFill>
              </a:rPr>
              <a:t>body_color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and background values such as solid colors, gradients, and images.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When a template already has the colors you want, </a:t>
            </a:r>
            <a:r>
              <a:rPr b="0" i="0">
                <a:latin typeface="Consolas"/>
                <a:solidFill>
                  <a:schemeClr val="dk1"/>
                </a:solidFill>
              </a:rPr>
              <a:t>--ignore-document-colors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and </a:t>
            </a:r>
            <a:r>
              <a:rPr b="0" i="0">
                <a:latin typeface="Consolas"/>
                <a:solidFill>
                  <a:schemeClr val="dk1"/>
                </a:solidFill>
              </a:rPr>
              <a:t>--ignore-slide-colors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let the template remain the source of truth for those color settings.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1D72AA"/>
                </a:solidFill>
              </a:defRPr>
            </a:pPr>
            <a:r>
              <a:rPr>
                <a:solidFill>
                  <a:srgbClr val="1D72AA"/>
                </a:solidFill>
              </a:rPr>
              <a:t>Supported color formats</a:t>
            </a:r>
            <a:endParaRPr>
              <a:solidFill>
                <a:srgbClr val="1D72A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10263F"/>
                </a:solidFill>
              </a:defRPr>
            </a:pP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Colors accept short or long hex, RGB, HSL, and PowerPoint theme references such as </a:t>
            </a:r>
            <a:r>
              <a:rPr b="0" i="0">
                <a:solidFill>
                  <a:srgbClr val="10263F"/>
                </a:solidFill>
                <a:latin typeface="Consolas"/>
              </a:rPr>
              <a:t>var(--accent-1)</a:t>
            </a: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rgbClr val="10263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dk1"/>
            </a:gs>
            <a:gs pos="20000">
              <a:schemeClr val="dk1"/>
            </a:gs>
            <a:gs pos="20000">
              <a:schemeClr val="lt1"/>
            </a:gs>
            <a:gs pos="27272">
              <a:schemeClr val="lt1"/>
            </a:gs>
            <a:gs pos="27272">
              <a:schemeClr val="dk2"/>
            </a:gs>
            <a:gs pos="34545">
              <a:schemeClr val="dk2"/>
            </a:gs>
            <a:gs pos="34545">
              <a:schemeClr val="lt2"/>
            </a:gs>
            <a:gs pos="41818">
              <a:schemeClr val="lt2"/>
            </a:gs>
            <a:gs pos="41818">
              <a:schemeClr val="accent1"/>
            </a:gs>
            <a:gs pos="49091">
              <a:schemeClr val="accent1"/>
            </a:gs>
            <a:gs pos="49091">
              <a:schemeClr val="accent2"/>
            </a:gs>
            <a:gs pos="56363">
              <a:schemeClr val="accent2"/>
            </a:gs>
            <a:gs pos="56363">
              <a:schemeClr val="accent3"/>
            </a:gs>
            <a:gs pos="63636">
              <a:schemeClr val="accent3"/>
            </a:gs>
            <a:gs pos="63636">
              <a:schemeClr val="accent4"/>
            </a:gs>
            <a:gs pos="70909">
              <a:schemeClr val="accent4"/>
            </a:gs>
            <a:gs pos="70909">
              <a:schemeClr val="accent5"/>
            </a:gs>
            <a:gs pos="78182">
              <a:schemeClr val="accent5"/>
            </a:gs>
            <a:gs pos="78182">
              <a:schemeClr val="accent6"/>
            </a:gs>
            <a:gs pos="85455">
              <a:schemeClr val="accent6"/>
            </a:gs>
            <a:gs pos="85455">
              <a:schemeClr val="hlink"/>
            </a:gs>
            <a:gs pos="92727">
              <a:schemeClr val="hlink"/>
            </a:gs>
            <a:gs pos="92727">
              <a:schemeClr val="folHlink"/>
            </a:gs>
            <a:gs pos="100000">
              <a:schemeClr val="folHlink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Every PowerPoint theme color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Feature examples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Each slide after this one isolates a single </a:t>
            </a: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feature.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Slide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Title Slide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Section Header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Section Header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and Content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explicitly uses master 1 and its Title and Content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Only layout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Body text with hyperlinks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can include links in normal body text, such as the </a:t>
            </a:r>
            <a:r>
              <a:rPr b="0" i="0">
                <a:hlinkClick r:id="rId2"/>
                <a:latin typeface="+mn-lt"/>
                <a:ea typeface="+mn-ea"/>
                <a:cs typeface="+mn-cs"/>
                <a:solidFill>
                  <a:schemeClr val="dk1"/>
                </a:solidFill>
              </a:rPr>
              <a:t>project repository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and the </a:t>
            </a:r>
            <a:r>
              <a:rPr b="0" i="0">
                <a:hlinkClick r:id="rId3"/>
                <a:latin typeface="+mn-lt"/>
                <a:ea typeface="+mn-ea"/>
                <a:cs typeface="+mn-cs"/>
                <a:solidFill>
                  <a:schemeClr val="dk1"/>
                </a:solidFill>
              </a:rPr>
              <a:t>python-pptx documentation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Inline text styling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Normal text can mix </a:t>
            </a:r>
            <a:r>
              <a:rPr b="1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strong emphasis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1">
                <a:latin typeface="+mn-lt"/>
                <a:ea typeface="+mn-ea"/>
                <a:cs typeface="+mn-cs"/>
                <a:solidFill>
                  <a:schemeClr val="dk1"/>
                </a:solidFill>
              </a:rPr>
              <a:t>italic emphasis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0">
                <a:latin typeface="Consolas"/>
                <a:solidFill>
                  <a:schemeClr val="dk1"/>
                </a:solidFill>
              </a:rPr>
              <a:t>inline code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and </a:t>
            </a:r>
            <a:r>
              <a:rPr b="0" i="0">
                <a:hlinkClick r:id="rId2"/>
                <a:latin typeface="+mn-lt"/>
                <a:ea typeface="+mn-ea"/>
                <a:cs typeface="+mn-cs"/>
                <a:solidFill>
                  <a:schemeClr val="dk1"/>
                </a:solidFill>
              </a:rPr>
              <a:t>hyperlinks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in the same editable placeholder.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H2 through H6 headings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H2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4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H3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1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H4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9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H5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8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H6 heading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Bulleted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Write a readable Markdown deck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Choose a template if needed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Render an editable PowerPoint file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Nested lists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Inspect the template</a:t>
            </a:r>
            <a:endParaRPr>
              <a:solidFill>
                <a:schemeClr val="dk1"/>
              </a:solidFill>
            </a:endParaRPr>
          </a:p>
          <a:p>
            <a:pPr lvl="1"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Select a master</a:t>
            </a:r>
            <a:endParaRPr>
              <a:solidFill>
                <a:schemeClr val="dk1"/>
              </a:solidFill>
            </a:endParaRPr>
          </a:p>
          <a:p>
            <a:pPr lvl="2"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Choose a compatible layout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Write the Markdown</a:t>
            </a:r>
            <a:endParaRPr>
              <a:solidFill>
                <a:schemeClr val="dk1"/>
              </a:solidFill>
            </a:endParaRPr>
          </a:p>
          <a:p>
            <a:pPr lvl="1"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Keep each slide focused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Render and review the PowerPoint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Write the markdown source</a:t>
            </a:r>
            <a:endParaRPr>
              <a:solidFill>
                <a:schemeClr val="dk1"/>
              </a:solidFill>
            </a:endParaRPr>
          </a:p>
          <a:p>
            <a:pPr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the CLI</a:t>
            </a:r>
            <a:endParaRPr>
              <a:solidFill>
                <a:schemeClr val="dk1"/>
              </a:solidFill>
            </a:endParaRPr>
          </a:p>
          <a:p>
            <a:pPr>
              <a:buAutoNum type="arabicPeriod" startAt="3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Open the generated </a:t>
            </a:r>
            <a:r>
              <a:rPr b="0" i="0">
                <a:latin typeface="Consolas"/>
                <a:solidFill>
                  <a:schemeClr val="dk1"/>
                </a:solidFill>
              </a:rPr>
              <a:t>.pptx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Pipe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MarkdownSlidesTable"/>
          <p:cNvGraphicFramePr>
            <a:graphicFrameLocks noGrp="1"/>
          </p:cNvGraphicFramePr>
          <p:nvPr/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 lastRow="1" firstCol="1" lastCol="1" bandCol="1">
                <a:tableStyleId>{B301B821-A1FF-4177-AEE7-76D212191A09}</a:tableStyleId>
              </a:tblPr>
              <a:tblGrid>
                <a:gridCol w="5257800"/>
                <a:gridCol w="5257800"/>
              </a:tblGrid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Markdown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PowerPoint result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# 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New slide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Real slide layout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Master-specific layout group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Editable speaker notes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All six native table-style flags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Blockquote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i="1">
                <a:latin typeface="+mn-lt"/>
                <a:ea typeface="+mn-ea"/>
                <a:cs typeface="+mn-cs"/>
                <a:solidFill>
                  <a:schemeClr val="accent1"/>
                </a:solidFill>
              </a:rPr>
              <a:t>markdown-pptx keeps the source format simple enough to read directly while still producing a real presentation.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block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uvx markdown-pptx sample/showcase.md sample/showcase.pptx --template sample/showcase-template.pptx --force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Local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Remote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color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solid slide background color.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Transparent background and hidden master graphics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removes its slide-level fill and hides the orange accent graphic inherited from the alternate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48000">
              <a:schemeClr val="accent3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Linear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three-stop linear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57999">
              <a:schemeClr val="accent4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Radial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radial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Slide colors override document colors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lt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lt1"/>
                </a:solidFill>
              </a:rPr>
              <a:t>This slide overrides the document-level title and body colors.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 in. Editable PowerPoint out.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--help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get started.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2026-08-31T21:00:12.9780000Z</dcterms:created>
  <dcterms:modified xsi:type="dcterms:W3CDTF">2026-08-31T21:00:12.9780000Z</dcterms:modified>
</coreProperties>
</file>