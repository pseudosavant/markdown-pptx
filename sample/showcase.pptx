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theme/theme2.xml" ContentType="application/vnd.openxmlformats-officedocument.theme+xml"/>
  <Override PartName="/ppt/slideMasters/theme/theme3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a35f6341b1ff46d3" Type="http://schemas.openxmlformats.org/package/2006/relationships/metadata/core-properties" Target="docProps/core.xml"/><Relationship Id="Rac10a82ca2574cd5" Type="http://schemas.openxmlformats.org/officeDocument/2006/relationships/extended-properties" Target="docProps/app.xml"/><Relationship Id="Rfdfa8a98105a4c9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7a6b133e734e76"/>
    <p:sldMasterId xmlns:r="http://schemas.openxmlformats.org/officeDocument/2006/relationships" id="2147483660" r:id="Rfe2c0a5d9f754a6a"/>
  </p:sldMasterIdLst>
  <p:notesMasterIdLst>
    <p:notesMasterId xmlns:r="http://schemas.openxmlformats.org/officeDocument/2006/relationships" r:id="Rbc83832983b5463b"/>
  </p:notesMasterIdLst>
  <p:sldIdLst>
    <p:sldId xmlns:ns0="http://schemas.openxmlformats.org/officeDocument/2006/relationships" id="256" ns0:id="rId8"/>
    <p:sldId xmlns:ns0="http://schemas.openxmlformats.org/officeDocument/2006/relationships" id="257" ns0:id="rId9"/>
    <p:sldId xmlns:ns0="http://schemas.openxmlformats.org/officeDocument/2006/relationships" id="258" ns0:id="rId10"/>
    <p:sldId xmlns:ns0="http://schemas.openxmlformats.org/officeDocument/2006/relationships" id="259" ns0:id="rId11"/>
    <p:sldId xmlns:ns0="http://schemas.openxmlformats.org/officeDocument/2006/relationships" id="260" ns0:id="rId12"/>
    <p:sldId xmlns:ns0="http://schemas.openxmlformats.org/officeDocument/2006/relationships" id="261" ns0:id="rId13"/>
    <p:sldId xmlns:ns0="http://schemas.openxmlformats.org/officeDocument/2006/relationships" id="262" ns0:id="rId14"/>
    <p:sldId xmlns:ns0="http://schemas.openxmlformats.org/officeDocument/2006/relationships" id="263" ns0:id="rId15"/>
    <p:sldId xmlns:ns0="http://schemas.openxmlformats.org/officeDocument/2006/relationships" id="264" ns0:id="rId16"/>
    <p:sldId xmlns:ns0="http://schemas.openxmlformats.org/officeDocument/2006/relationships" id="265" ns0:id="rId17"/>
    <p:sldId xmlns:ns0="http://schemas.openxmlformats.org/officeDocument/2006/relationships" id="266" ns0:id="rId18"/>
    <p:sldId xmlns:ns0="http://schemas.openxmlformats.org/officeDocument/2006/relationships" id="267" ns0:id="rId19"/>
    <p:sldId xmlns:ns0="http://schemas.openxmlformats.org/officeDocument/2006/relationships" id="268" ns0:id="rId20"/>
    <p:sldId xmlns:ns0="http://schemas.openxmlformats.org/officeDocument/2006/relationships" id="269" ns0:id="rId21"/>
    <p:sldId xmlns:ns0="http://schemas.openxmlformats.org/officeDocument/2006/relationships" id="270" ns0:id="rId22"/>
    <p:sldId xmlns:ns0="http://schemas.openxmlformats.org/officeDocument/2006/relationships" id="271" ns0:id="rId23"/>
    <p:sldId xmlns:ns0="http://schemas.openxmlformats.org/officeDocument/2006/relationships" id="272" ns0:id="rId24"/>
    <p:sldId xmlns:ns0="http://schemas.openxmlformats.org/officeDocument/2006/relationships" id="273" ns0:id="rId25"/>
    <p:sldId xmlns:ns0="http://schemas.openxmlformats.org/officeDocument/2006/relationships" id="274" ns0:id="rId26"/>
    <p:sldId xmlns:ns0="http://schemas.openxmlformats.org/officeDocument/2006/relationships" id="275" ns0:id="rId27"/>
    <p:sldId xmlns:ns0="http://schemas.openxmlformats.org/officeDocument/2006/relationships" id="276" ns0:id="rId28"/>
    <p:sldId xmlns:ns0="http://schemas.openxmlformats.org/officeDocument/2006/relationships" id="277" ns0:id="rId29"/>
    <p:sldId xmlns:ns0="http://schemas.openxmlformats.org/officeDocument/2006/relationships" id="278" ns0:id="rId30"/>
    <p:sldId xmlns:ns0="http://schemas.openxmlformats.org/officeDocument/2006/relationships" id="279" ns0:id="rId31"/>
    <p:sldId xmlns:ns0="http://schemas.openxmlformats.org/officeDocument/2006/relationships" id="280" ns0:id="rId32"/>
    <p:sldId xmlns:ns0="http://schemas.openxmlformats.org/officeDocument/2006/relationships" id="281" ns0:id="rId33"/>
    <p:sldId xmlns:ns0="http://schemas.openxmlformats.org/officeDocument/2006/relationships" id="282" ns0:id="rId34"/>
    <p:sldId xmlns:ns0="http://schemas.openxmlformats.org/officeDocument/2006/relationships" id="283" ns0:id="rId35"/>
    <p:sldId xmlns:ns0="http://schemas.openxmlformats.org/officeDocument/2006/relationships" id="284" ns0:id="rId36"/>
    <p:sldId xmlns:ns0="http://schemas.openxmlformats.org/officeDocument/2006/relationships" id="285" ns0:id="rId37"/>
    <p:sldId xmlns:ns0="http://schemas.openxmlformats.org/officeDocument/2006/relationships" id="286" ns0:id="rId38"/>
    <p:sldId xmlns:ns0="http://schemas.openxmlformats.org/officeDocument/2006/relationships" id="287" ns0:id="rId39"/>
    <p:sldId xmlns:ns0="http://schemas.openxmlformats.org/officeDocument/2006/relationships" id="288" ns0:id="rId40"/>
    <p:sldId xmlns:ns0="http://schemas.openxmlformats.org/officeDocument/2006/relationships" id="289" ns0:id="rId41"/>
    <p:sldId xmlns:ns0="http://schemas.openxmlformats.org/officeDocument/2006/relationships" id="290" ns0:id="rId42"/>
    <p:sldId xmlns:ns0="http://schemas.openxmlformats.org/officeDocument/2006/relationships" id="291" ns0:id="rId43"/>
    <p:sldId xmlns:ns0="http://schemas.openxmlformats.org/officeDocument/2006/relationships" id="292" ns0:id="rId44"/>
    <p:sldId xmlns:ns0="http://schemas.openxmlformats.org/officeDocument/2006/relationships" id="293" ns0:id="rId45"/>
    <p:sldId xmlns:ns0="http://schemas.openxmlformats.org/officeDocument/2006/relationships" id="294" ns0:id="rId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403ee377bf24d54" Type="http://schemas.openxmlformats.org/officeDocument/2006/relationships/presProps" Target="presProps.xml"/><Relationship Id="R257a6b133e734e76" Type="http://schemas.openxmlformats.org/officeDocument/2006/relationships/slideMaster" Target="slideMasters/slideMaster1.xml"/><Relationship Id="R4643ad08ad724dff" Type="http://schemas.openxmlformats.org/officeDocument/2006/relationships/theme" Target="theme/theme1.xml"/><Relationship Id="R4b7bfd43501e4187" Type="http://schemas.openxmlformats.org/officeDocument/2006/relationships/tableStyles" Target="tableStyles.xml"/><Relationship Id="Rbc83832983b5463b" Type="http://schemas.openxmlformats.org/officeDocument/2006/relationships/notesMaster" Target="notesMasters/notesMaster1.xml"/><Relationship Id="Rfa3fe3d09625471e" Type="http://schemas.openxmlformats.org/officeDocument/2006/relationships/viewProps" Target="viewProps.xml"/><Relationship Id="Rfe2c0a5d9f754a6a" Type="http://schemas.openxmlformats.org/officeDocument/2006/relationships/slideMaster" Target="slideMasters/slideMaster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ecb8d5aab9bc4248" Type="http://schemas.openxmlformats.org/officeDocument/2006/relationships/theme" Target="theme/theme4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uses every theme color as a hard band in the background.</a:t>
            </a:r>
          </a:p>
          <a:p>
            <a:r>
              <a:t>From top to bottom: Dark 1, Light 1, Dark 2, Light 2, Accent 1 through Accent 6, Hyperlink, and Followed Hyperlink.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downloading a remote image during rendering.</a:t>
            </a:r>
          </a:p>
          <a:p>
            <a:r>
              <a:t>[Sources]</a:t>
            </a:r>
          </a:p>
          <a:p>
            <a:r>
              <a:t>- https://raw.githubusercontent.com/github/explore/main/topics/python/python.png (Python logo)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a full-slide background image on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intentionally demonstrates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single top-level thematic break separates the left and right placeholders.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b67cb4b70c8d4de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0980c3dff974b3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1d472eccc3b040c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456b81ad14b4dc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8497423c7c54a7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80c955011a64d56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8acc42dbcb546b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cba100e7a0e420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093b58cdbe4483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06ae5e9c06d9440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7c51e203f8143e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4e053d118c214d5a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0EFC93-8786-03A5-FF46-60AC373CF4F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CC48827-FAFE-757E-1BDE-A06E4510EB0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93809F-6FD5-1B03-1567-1763DC11F5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2BC750-76C4-37C3-4C64-87D13E5FC9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BCEC4E-AFC9-D7F0-CE75-B4633A0D3E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7B371E-C732-84F9-BD3D-F382350F6C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9099C3E-757B-E19D-4285-78E92C3458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D396C4F-1DE2-3AA4-9C9B-C75122B0B6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D30F03-70A8-65F8-0B28-472538E321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B5102F-77D2-EA7A-2828-55575C441A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96A4C5-25EB-9DBF-9AE7-B4B50751A2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1F4BB36-C20B-2A12-776D-B8CF328A3F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1DC8ECC-F7D5-73A7-B8E3-B1A0CA7D44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2E49D5-1C9F-8D40-CCB4-B471C9528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B6321D-21FC-FE13-115B-7AF14C0200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357A5E-A34A-0C04-152E-1448113EB2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A92B90F-81A0-2A83-4F7C-F1C9B579C5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AC1E1D5-7ED1-2D69-071E-F87266FD0B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1D40E98-9414-6423-290B-4D393029BA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5492CC8-1E8A-086B-88FB-AE86F243CC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67E5F9-26DA-4072-D5BB-1084A6A1C2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4CAB7B-46DD-FE93-9C9D-1D30555FC0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86AD5FF-026E-DD96-F130-348C21A5C0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86DF69-2038-8BD6-CA4A-1E3BBE6756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C9318A0-C4ED-7F91-CD79-9089D088AC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771C1DB-9CB8-2692-9782-82569302F62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BDC32B4-BF9C-89B5-296C-7F0E74347B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BD5AFAD-62FA-AD1A-1E97-95C982D7BF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9730FC9-1B0B-E421-D011-9201EAE2A3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DE9C342-6914-9E17-B798-8659872DD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2F670CD-E95D-72AB-A97F-908471A0ED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5D6C3B5-CB93-F497-CA2F-F03AC985F6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02D53CC-6E53-168F-C009-49EEC83EB5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0B72EB3-4F17-5706-8B26-3235B26BCA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3266D-F165-6DB3-9C5A-DF0901DD02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4A4B781-F948-D676-3548-31D67D40A7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881042-B979-E1A9-7DFA-48CA53E74C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540C8C-D4A7-4F29-E296-5BE456BA58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933AD6-C50B-8360-04D8-6DDA04E93E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7AC5C1-0FE0-4F70-8F57-4DF471E1A0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A302485-1CFA-0B33-3618-9AED445BB3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209CB3-0932-74FD-8F06-528D05A9E3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C83F8-CEC4-7941-A0F9-844FA16120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D214E2B-0179-1A01-582B-EFB5BB37A71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D0B335-F7A1-F1F0-3588-8E5344EE66B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52C83E5-7ABA-5071-C4FF-CCD884099E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8F6AAE3-E4A3-7AB6-0605-B74031B079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F5FC47-A572-8EC0-82F2-A82C8B53A6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2A80E8-FA40-761C-C204-D27DAF2EC6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F587A76-E4B7-7F94-F8FF-CB53E8CB5D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2732A7-9B99-C553-881C-884C1E072F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5AB7C5-17F0-6DCA-7C9A-A80259CB2D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C021F4-82F6-6D70-16D1-DB8A5BF9A5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BCFCB39-CC34-1B9C-6E89-D8EB45AC9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F778CF9-71D7-F3A2-6409-2117C055BA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17D1AE-0E61-EBCA-F251-4E08C554A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AB61B56-D627-359F-ADE6-41AC5763AC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63BA388-298F-82D3-1EDB-F9D8764A79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387A3-D0F6-4944-90DD-EAC0C4F6A8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796BE7C-654E-4D18-848D-B815DEB5C01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675FB1-F886-4AE5-A4FB-1026BEA893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D6AE83-BBC3-4D2B-8EC0-B2B6C17C4E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9F1031-F856-44C0-ABDB-46B1580321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a23e01c2b964ac9" Type="http://schemas.openxmlformats.org/officeDocument/2006/relationships/slideLayout" Target="../slideLayouts/slideLayout7.xml"/><Relationship Id="R2ab4a3697f914079" Type="http://schemas.openxmlformats.org/officeDocument/2006/relationships/theme" Target="theme/theme2.xml"/><Relationship Id="R34bbff6b3fd241e0" Type="http://schemas.openxmlformats.org/officeDocument/2006/relationships/slideLayout" Target="../slideLayouts/slideLayout10.xml"/><Relationship Id="R4108fd965e304035" Type="http://schemas.openxmlformats.org/officeDocument/2006/relationships/slideLayout" Target="../slideLayouts/slideLayout4.xml"/><Relationship Id="R67fb8e06bbb74233" Type="http://schemas.openxmlformats.org/officeDocument/2006/relationships/slideLayout" Target="../slideLayouts/slideLayout6.xml"/><Relationship Id="R6d1712a483d14045" Type="http://schemas.openxmlformats.org/officeDocument/2006/relationships/slideLayout" Target="../slideLayouts/slideLayout9.xml"/><Relationship Id="R796594545dbe4220" Type="http://schemas.openxmlformats.org/officeDocument/2006/relationships/slideLayout" Target="../slideLayouts/slideLayout8.xml"/><Relationship Id="R9792dec0e8ea4606" Type="http://schemas.openxmlformats.org/officeDocument/2006/relationships/slideLayout" Target="../slideLayouts/slideLayout3.xml"/><Relationship Id="Rd31f680fa67d48b6" Type="http://schemas.openxmlformats.org/officeDocument/2006/relationships/slideLayout" Target="../slideLayouts/slideLayout11.xml"/><Relationship Id="Re5be6833617e488f" Type="http://schemas.openxmlformats.org/officeDocument/2006/relationships/slideLayout" Target="../slideLayouts/slideLayout2.xml"/><Relationship Id="Rf18a82e3e5e64b3d" Type="http://schemas.openxmlformats.org/officeDocument/2006/relationships/slideLayout" Target="../slideLayouts/slideLayout5.xml"/><Relationship Id="Rfa7ec47c039f43ce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359d5ed17e60436b" Type="http://schemas.openxmlformats.org/officeDocument/2006/relationships/theme" Target="theme/theme3.xml"/><Relationship Id="R9ac0e3ffa6dd449e" Type="http://schemas.openxmlformats.org/officeDocument/2006/relationships/slideLayout" Target="../slideLayouts/slideLayout12.xml"/></Relationships>
</file>

<file path=ppt/slideMasters/slideMaster1.xml><?xml version="1.0" encoding="utf-8"?>
<p:sldMaster xmlns:p="http://schemas.openxmlformats.org/presentationml/2006/main">
  <p:cSld>
    <p:bg>
      <p:bgPr xmlns:a="http://schemas.openxmlformats.org/drawingml/2006/main">
        <a:gradFill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2CBAE84-EA4C-C8F8-3709-EDD14D1F56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594B1F3-85AD-9F78-4219-27AB7B47A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89BC02-5FD5-5699-6FDA-44B4FBD1DEA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316B89-3F62-F24C-2EE3-C5284C7EAB8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F17629-D3CC-42DF-0750-5B632BDCD47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7ec47c039f43ce"/>
    <p:sldLayoutId xmlns:r="http://schemas.openxmlformats.org/officeDocument/2006/relationships" id="2147483650" r:id="Re5be6833617e488f"/>
    <p:sldLayoutId xmlns:r="http://schemas.openxmlformats.org/officeDocument/2006/relationships" id="2147483651" r:id="R9792dec0e8ea4606"/>
    <p:sldLayoutId xmlns:r="http://schemas.openxmlformats.org/officeDocument/2006/relationships" id="2147483652" r:id="R4108fd965e304035"/>
    <p:sldLayoutId xmlns:r="http://schemas.openxmlformats.org/officeDocument/2006/relationships" id="2147483653" r:id="Rf18a82e3e5e64b3d"/>
    <p:sldLayoutId xmlns:r="http://schemas.openxmlformats.org/officeDocument/2006/relationships" id="2147483654" r:id="R67fb8e06bbb74233"/>
    <p:sldLayoutId xmlns:r="http://schemas.openxmlformats.org/officeDocument/2006/relationships" id="2147483655" r:id="R2a23e01c2b964ac9"/>
    <p:sldLayoutId xmlns:r="http://schemas.openxmlformats.org/officeDocument/2006/relationships" id="2147483656" r:id="R796594545dbe4220"/>
    <p:sldLayoutId xmlns:r="http://schemas.openxmlformats.org/officeDocument/2006/relationships" id="2147483657" r:id="R6d1712a483d14045"/>
    <p:sldLayoutId xmlns:r="http://schemas.openxmlformats.org/officeDocument/2006/relationships" id="2147483658" r:id="R34bbff6b3fd241e0"/>
    <p:sldLayoutId xmlns:r="http://schemas.openxmlformats.org/officeDocument/2006/relationships" id="2147483659" r:id="Rd31f680fa67d48b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howcase Alternate">
    <p:bg>
      <p:bgPr>
        <a:gradFill xmlns:a="http://schemas.openxmlformats.org/drawingml/2006/main"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DBD5440-81DE-4125-BFCA-1F0A6F9758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5AC8E2-5AD2-4038-8795-E9DD85339A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9A8D43-E25A-437D-8C1B-42ACE45ACC6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7D6C8F-E122-441D-85AE-BAD1583A4EA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C8BD47-8872-45F8-9C11-7C7B5D4AC1E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  <p:sp>
        <p:nvSpPr>
          <p:cNvPr id="12" name="alternate-master-accent">
            <a:extLst xmlns:a="http://schemas.openxmlformats.org/drawingml/2006/main">
              <a:ext uri="{FF2B5EF4-FFF2-40B4-BE49-F238E27FC236}">
                <a16:creationId xmlns:a16="http://schemas.microsoft.com/office/drawing/2014/main" id="{2E668EBD-2B38-4C86-8681-513DF9DA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347"/>
          </a:solidFill>
          <a:ln xmlns:a="http://schemas.openxmlformats.org/drawingml/2006/main" w="0">
            <a:noFill/>
            <a:prstDash val="solid"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9ac0e3ffa6dd449e"/>
  </p:sldLayoutIdLst>
</p:sldMaster>
</file>

<file path=ppt/slideMasters/theme/theme2.xml><?xml version="1.0" encoding="utf-8"?>
<a:theme xmlns:a="http://schemas.openxmlformats.org/drawingml/2006/main" name="Office Theme">
  <a:themeElements>
    <a:clrScheme name="Custom">
      <a:dk1>
        <a:srgbClr val="10263F"/>
      </a:dk1>
      <a:lt1>
        <a:srgbClr val="F9F9F9"/>
      </a:lt1>
      <a:dk2>
        <a:srgbClr val="355A78"/>
      </a:dk2>
      <a:lt2>
        <a:srgbClr val="EEF8FF"/>
      </a:lt2>
      <a:accent1>
        <a:srgbClr val="1D6FA8"/>
      </a:accent1>
      <a:accent2>
        <a:srgbClr val="5AA9E6"/>
      </a:accent2>
      <a:accent3>
        <a:srgbClr val="7FC8F8"/>
      </a:accent3>
      <a:accent4>
        <a:srgbClr val="FFB347"/>
      </a:accent4>
      <a:accent5>
        <a:srgbClr val="FF6392"/>
      </a:accent5>
      <a:accent6>
        <a:srgbClr val="144F79"/>
      </a:accent6>
      <a:hlink>
        <a:srgbClr val="1D6FA8"/>
      </a:hlink>
      <a:folHlink>
        <a:srgbClr val="355A78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Office Theme">
  <a:themeElements>
    <a:clrScheme name="Custom">
      <a:dk1>
        <a:srgbClr val="10263F"/>
      </a:dk1>
      <a:lt1>
        <a:srgbClr val="F9F9F9"/>
      </a:lt1>
      <a:dk2>
        <a:srgbClr val="355A78"/>
      </a:dk2>
      <a:lt2>
        <a:srgbClr val="EEF8FF"/>
      </a:lt2>
      <a:accent1>
        <a:srgbClr val="1D6FA8"/>
      </a:accent1>
      <a:accent2>
        <a:srgbClr val="5AA9E6"/>
      </a:accent2>
      <a:accent3>
        <a:srgbClr val="7FC8F8"/>
      </a:accent3>
      <a:accent4>
        <a:srgbClr val="FFB347"/>
      </a:accent4>
      <a:accent5>
        <a:srgbClr val="FF6392"/>
      </a:accent5>
      <a:accent6>
        <a:srgbClr val="144F79"/>
      </a:accent6>
      <a:hlink>
        <a:srgbClr val="1D6FA8"/>
      </a:hlink>
      <a:folHlink>
        <a:srgbClr val="355A78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Relationship Id="rId3" Type="http://schemas.openxmlformats.org/officeDocument/2006/relationships/hyperlink" Target="https://python-pptx.readthedocs.io/en/latest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hyperlink" Target="https://github.com/pseudosavant/markdown-pptx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markdown-pptx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Markdown in. Editable PowerPoint 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What markdown-pptx is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converts constrained Markdown slide decks into editable PowerPoint </a:t>
            </a:r>
            <a:r>
              <a:rPr b="0" i="0">
                <a:solidFill>
                  <a:schemeClr val="dk1"/>
                </a:solidFill>
                <a:latin typeface="Consolas"/>
              </a:rPr>
              <a:t>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presentations.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It uses real PowerPoint layouts and placeholders, so the output stays easy to edit in PowerPoint instead of becoming a pile of free-positioned text boxes.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How the format works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An optional document front matter block sets deck-wide defaults such as aspect ratio, fonts, colors, and background behavior.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Each ATX </a:t>
            </a:r>
            <a:r>
              <a:rPr b="0" i="0">
                <a:solidFill>
                  <a:schemeClr val="dk1"/>
                </a:solidFill>
                <a:latin typeface="Consolas"/>
              </a:rPr>
              <a:t># H1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or Setext H1 starts a new slide. Optional slide front matter appears immediately after the heading. Everything until the next H1 belongs to that slide.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Basic CLI usage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deck.md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write </a:t>
            </a:r>
            <a:r>
              <a:rPr b="0" i="0">
                <a:solidFill>
                  <a:schemeClr val="dk1"/>
                </a:solidFill>
                <a:latin typeface="Consolas"/>
              </a:rPr>
              <a:t>deck.pptx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next to the source markdown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Use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deck.md out.pptx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choose the output path, </a:t>
            </a:r>
            <a:r>
              <a:rPr b="0" i="0">
                <a:solidFill>
                  <a:schemeClr val="dk1"/>
                </a:solidFill>
                <a:latin typeface="Consolas"/>
              </a:rPr>
              <a:t>--template theme.pptx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render against an existing PowerPoint template, and </a:t>
            </a:r>
            <a:r>
              <a:rPr b="0" i="0">
                <a:solidFill>
                  <a:schemeClr val="dk1"/>
                </a:solidFill>
                <a:latin typeface="Consolas"/>
              </a:rPr>
              <a:t>--force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overwrite an existing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with no arguments for the quick reference or use </a:t>
            </a:r>
            <a:r>
              <a:rPr b="0" i="0">
                <a:solidFill>
                  <a:schemeClr val="dk1"/>
                </a:solidFill>
                <a:latin typeface="Consolas"/>
              </a:rPr>
              <a:t>--about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for project metadata.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Inspection-friendly CLI modes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Use </a:t>
            </a:r>
            <a:r>
              <a:rPr b="0" i="0">
                <a:solidFill>
                  <a:schemeClr val="dk1"/>
                </a:solidFill>
                <a:latin typeface="Consolas"/>
              </a:rPr>
              <a:t>--syntax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print the supported deck format, </a:t>
            </a:r>
            <a:r>
              <a:rPr b="0" i="0">
                <a:solidFill>
                  <a:schemeClr val="dk1"/>
                </a:solidFill>
                <a:latin typeface="Consolas"/>
              </a:rPr>
              <a:t>--list-masters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inspect a template's slide masters, </a:t>
            </a:r>
            <a:r>
              <a:rPr b="0" i="0">
                <a:solidFill>
                  <a:schemeClr val="dk1"/>
                </a:solidFill>
                <a:latin typeface="Consolas"/>
              </a:rPr>
              <a:t>--list-layouts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inspect layouts on a selected master, and </a:t>
            </a:r>
            <a:r>
              <a:rPr b="0" i="0">
                <a:solidFill>
                  <a:schemeClr val="dk1"/>
                </a:solidFill>
                <a:latin typeface="Consolas"/>
              </a:rPr>
              <a:t>--list-color-schemes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see the built-in theme presets.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Add </a:t>
            </a:r>
            <a:r>
              <a:rPr b="0" i="0">
                <a:solidFill>
                  <a:schemeClr val="dk1"/>
                </a:solidFill>
                <a:latin typeface="Consolas"/>
              </a:rPr>
              <a:t>--json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for structured results. Master and layout inspection report names, indices, placeholder inventory, and compatibility so people and coding agents can discover valid inputs before generating a deck.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Master and layout selection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template's </a:t>
            </a:r>
            <a:r>
              <a:rPr b="0" i="0">
                <a:solidFill>
                  <a:schemeClr val="dk1"/>
                </a:solidFill>
                <a:latin typeface="Consolas"/>
              </a:rPr>
              <a:t>Showcase Alternate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master while the rest of the deck defaults to master 1. Templates keep every embedded master in the output.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Master selection uses slide metadata first, then the CLI default, then master 1. Layout names are resolved within the selected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Agent skill support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skill install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install the managed agent skill under </a:t>
            </a:r>
            <a:r>
              <a:rPr b="0" i="0">
                <a:solidFill>
                  <a:schemeClr val="dk1"/>
                </a:solidFill>
                <a:latin typeface="Consolas"/>
              </a:rPr>
              <a:t>~/.agents/skills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or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skill remove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remove it safely.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skill teaches agents to inspect syntax, masters, and layouts; prefer structured output; respect overwrite safety; and handle local or remote images predictably.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Color and template control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Markdown can set document-level and slide-level colors with </a:t>
            </a:r>
            <a:r>
              <a:rPr b="0" i="0">
                <a:solidFill>
                  <a:schemeClr val="dk1"/>
                </a:solidFill>
                <a:latin typeface="Consolas"/>
              </a:rPr>
              <a:t>color_scheme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title_color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body_color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and background values such as solid colors, gradients, and images.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When a template already has the colors you want, </a:t>
            </a:r>
            <a:r>
              <a:rPr b="0" i="0">
                <a:solidFill>
                  <a:schemeClr val="dk1"/>
                </a:solidFill>
                <a:latin typeface="Consolas"/>
              </a:rPr>
              <a:t>--ignore-document-colors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and </a:t>
            </a:r>
            <a:r>
              <a:rPr b="0" i="0">
                <a:solidFill>
                  <a:schemeClr val="dk1"/>
                </a:solidFill>
                <a:latin typeface="Consolas"/>
              </a:rPr>
              <a:t>--ignore-slide-colors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let the template remain the source of truth for those color settings.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rgbClr val="1D72AA"/>
                </a:solidFill>
              </a:defRPr>
            </a:pPr>
            <a:r>
              <a:rPr>
                <a:solidFill>
                  <a:srgbClr val="1D72AA"/>
                </a:solidFill>
              </a:rPr>
              <a:t>Supported color formats</a:t>
            </a:r>
            <a:endParaRPr>
              <a:solidFill>
                <a:srgbClr val="1D72A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rgbClr val="10263F"/>
                </a:solidFill>
              </a:defRPr>
            </a:pP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Colors accept short or long hex, RGB, HSL, and PowerPoint theme references such as </a:t>
            </a:r>
            <a:r>
              <a:rPr b="0" i="0">
                <a:solidFill>
                  <a:srgbClr val="10263F"/>
                </a:solidFill>
                <a:latin typeface="Consolas"/>
              </a:rPr>
              <a:t>var(--accent-1)</a:t>
            </a: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rgbClr val="10263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dk1"/>
            </a:gs>
            <a:gs pos="20000">
              <a:schemeClr val="dk1"/>
            </a:gs>
            <a:gs pos="20000">
              <a:schemeClr val="lt1"/>
            </a:gs>
            <a:gs pos="27273">
              <a:schemeClr val="lt1"/>
            </a:gs>
            <a:gs pos="27273">
              <a:schemeClr val="dk2"/>
            </a:gs>
            <a:gs pos="34545">
              <a:schemeClr val="dk2"/>
            </a:gs>
            <a:gs pos="34545">
              <a:schemeClr val="lt2"/>
            </a:gs>
            <a:gs pos="41818">
              <a:schemeClr val="lt2"/>
            </a:gs>
            <a:gs pos="41818">
              <a:schemeClr val="accent1"/>
            </a:gs>
            <a:gs pos="49091">
              <a:schemeClr val="accent1"/>
            </a:gs>
            <a:gs pos="49091">
              <a:schemeClr val="accent2"/>
            </a:gs>
            <a:gs pos="56364">
              <a:schemeClr val="accent2"/>
            </a:gs>
            <a:gs pos="56364">
              <a:schemeClr val="accent3"/>
            </a:gs>
            <a:gs pos="63636">
              <a:schemeClr val="accent3"/>
            </a:gs>
            <a:gs pos="63636">
              <a:schemeClr val="accent4"/>
            </a:gs>
            <a:gs pos="70909">
              <a:schemeClr val="accent4"/>
            </a:gs>
            <a:gs pos="70909">
              <a:schemeClr val="accent5"/>
            </a:gs>
            <a:gs pos="78182">
              <a:schemeClr val="accent5"/>
            </a:gs>
            <a:gs pos="78182">
              <a:schemeClr val="accent6"/>
            </a:gs>
            <a:gs pos="85455">
              <a:schemeClr val="accent6"/>
            </a:gs>
            <a:gs pos="85455">
              <a:schemeClr val="hlink"/>
            </a:gs>
            <a:gs pos="92727">
              <a:schemeClr val="hlink"/>
            </a:gs>
            <a:gs pos="92727">
              <a:schemeClr val="folHlink"/>
            </a:gs>
            <a:gs pos="100000">
              <a:schemeClr val="folHlink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Every PowerPoint theme color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Feature examples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Each slide after this one isolates a single </a:t>
            </a: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feature.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Slide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Title Slide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Section Header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Section Header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and Content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explicitly uses master 1 and its Title and Content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Only layout</a:t>
            </a:r>
            <a:endParaRPr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Body text with hyperlinks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can include links in normal body text, such as the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/>
              </a:rPr>
              <a:t>project repository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and the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3"/>
              </a:rPr>
              <a:t>python-pptx documentation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Inline text styling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Normal text can mix </a:t>
            </a:r>
            <a:r>
              <a:rPr b="1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strong with </a:t>
            </a:r>
            <a:r>
              <a:rPr b="1" i="1">
                <a:solidFill>
                  <a:schemeClr val="dk1"/>
                </a:solidFill>
                <a:latin typeface="+mn-lt"/>
                <a:ea typeface="+mn-ea"/>
                <a:cs typeface="+mn-cs"/>
              </a:rPr>
              <a:t>nested italic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1">
                <a:solidFill>
                  <a:schemeClr val="dk1"/>
                </a:solidFill>
                <a:latin typeface="+mn-lt"/>
                <a:ea typeface="+mn-ea"/>
                <a:cs typeface="+mn-cs"/>
              </a:rPr>
              <a:t>italic emphasis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inline code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 strike="sngStrike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deleted text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H</a:t>
            </a:r>
            <a:r>
              <a:rPr b="0" i="0" baseline="-25000" sz="2000">
                <a:solidFill>
                  <a:schemeClr val="dk1"/>
                </a:solidFill>
                <a:latin typeface="+mn-lt"/>
                <a:ea typeface="+mn-ea"/>
                <a:cs typeface="+mn-cs"/>
              </a:rPr>
              <a:t>2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O, x</a:t>
            </a:r>
            <a:r>
              <a:rPr b="0" i="0" baseline="30000" sz="2000">
                <a:solidFill>
                  <a:schemeClr val="dk1"/>
                </a:solidFill>
                <a:latin typeface="+mn-lt"/>
                <a:ea typeface="+mn-ea"/>
                <a:cs typeface="+mn-cs"/>
              </a:rPr>
              <a:t>2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and </a:t>
            </a:r>
            <a:r>
              <a:rPr b="1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/>
              </a:rPr>
              <a:t>formatted links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in the same editable placeholder.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 breaks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source line wraps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without forcing a visual break.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line ends here.</a:t>
            </a:r>
            <a:br/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next line stays in the same paragraph.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H2 through H6 headings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H2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4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H3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1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H4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9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H5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8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H6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Setext H2 heading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Setext H1 slide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An H1 underline can start a slide without an ATX marker.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Bulleted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a readable Markdown deck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Choose a template if needed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Render an editable PowerPoint file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Nested lists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Inspect the template</a:t>
            </a:r>
            <a:endParaRPr>
              <a:solidFill>
                <a:schemeClr val="dk1"/>
              </a:solidFill>
            </a:endParaRPr>
          </a:p>
          <a:p>
            <a:pPr lvl="1" marL="82296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Select a master</a:t>
            </a:r>
            <a:endParaRPr>
              <a:solidFill>
                <a:schemeClr val="dk1"/>
              </a:solidFill>
            </a:endParaRPr>
          </a:p>
          <a:p>
            <a:pPr lvl="2" marL="123444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Choose a compatible layout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the Markdown</a:t>
            </a:r>
            <a:endParaRPr>
              <a:solidFill>
                <a:schemeClr val="dk1"/>
              </a:solidFill>
            </a:endParaRPr>
          </a:p>
          <a:p>
            <a:pPr lvl="1" marL="82296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Keep each slide focused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Render and review the PowerPoint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Numbered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576072" indent="-365760"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the markdown source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the CLI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3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Open the generated </a:t>
            </a:r>
            <a:r>
              <a:rPr b="0" i="0">
                <a:solidFill>
                  <a:schemeClr val="dk1"/>
                </a:solidFill>
                <a:latin typeface="Consolas"/>
              </a:rPr>
              <a:t>.pptx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Task lists and continuations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☑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Create the editable deck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☐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Review the slides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Begin with a numbered item</a:t>
            </a:r>
            <a:endParaRPr>
              <a:solidFill>
                <a:schemeClr val="dk1"/>
              </a:solidFill>
            </a:endParaRPr>
          </a:p>
          <a:p>
            <a:pPr marL="576072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Continue its explanation without another number.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Finish the sequence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Pipe table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MarkdownSlidesTable"/>
          <p:cNvGraphicFramePr>
            <a:graphicFrameLocks noGrp="1"/>
          </p:cNvGraphicFramePr>
          <p:nvPr/>
        </p:nvGraphicFramePr>
        <p:xfrm>
          <a:off x="838200" y="1825625"/>
          <a:ext cx="10515600" cy="4351338"/>
        </p:xfrm>
        <a:graphic>
          <a:graphicData uri="http://schemas.openxmlformats.org/drawingml/2006/table">
            <a:tbl>
              <a:tblPr firstRow="1" bandRow="1" lastRow="1" firstCol="1" lastCol="1" bandCol="1">
                <a:tableStyleId>{B301B821-A1FF-4177-AEE7-76D212191A09}</a:tableStyleId>
              </a:tblPr>
              <a:tblGrid>
                <a:gridCol w="5257800"/>
                <a:gridCol w="5257800"/>
              </a:tblGrid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Markdown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PowerPoint result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# 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New slide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layout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Real slide layout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Master-specific layout group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Editable speaker notes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All six native table-style flags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Blockquote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274320" indent="0">
              <a:spcBef>
                <a:spcPts val="600"/>
              </a:spcBef>
              <a:spcAft>
                <a:spcPts val="600"/>
              </a:spcAft>
              <a:buNone/>
            </a:pPr>
            <a:r>
              <a:rPr b="0" i="1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markdown-pptx keeps the source format simple enough to read directly while still producing a real presentation.</a:t>
            </a:r>
          </a:p>
          <a:p>
            <a:pPr marL="685800" indent="-201168">
              <a:spcBef>
                <a:spcPts val="600"/>
              </a:spcBef>
              <a:spcAft>
                <a:spcPts val="600"/>
              </a:spcAft>
            </a:pPr>
            <a:r>
              <a:rPr b="0" i="1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Quoted lists keep their bullets.</a:t>
            </a:r>
          </a:p>
          <a:p>
            <a:pPr marL="274320" indent="0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Code block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uvx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markdown</a:t>
            </a:r>
            <a:r>
              <a:rPr b="0" i="0">
                <a:solidFill>
                  <a:schemeClr val="dk1"/>
                </a:solidFill>
                <a:latin typeface="Consolas"/>
              </a:rPr>
              <a:t>-pptx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rgbClr val="008000"/>
                </a:solidFill>
                <a:latin typeface="Consolas"/>
              </a:rPr>
              <a:t>md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-template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-template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-force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Local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Local markdown-pptx sample image" title="Showcase image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Remote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Remote Python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331" y="1825625"/>
            <a:ext cx="4351338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Background color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solid slide background color.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Transparent background and hidden master graphics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removes its slide-level fill and hides the orange accent graphic inherited from the alternate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MarkdownSlidesBackground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48000">
              <a:schemeClr val="accent3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Linear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three-stop linear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58000">
              <a:schemeClr val="accent4"/>
            </a:gs>
            <a:gs pos="100000">
              <a:schemeClr val="lt1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Radial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radial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Slide colors override document colors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lt1"/>
                </a:solidFill>
              </a:defRPr>
            </a:pPr>
            <a:r>
              <a:rPr b="0" i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This slide overrides the document-level title and body colors.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Two content areas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First option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Small initial scope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Quick feedback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Second option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Broader initial scope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More preparation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Text beside a table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Progress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☑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Design agreed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☐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Delivery scheduled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/>
        </p:txBody>
      </p:sp>
      <p:graphicFrame>
        <p:nvGraphicFramePr>
          <p:cNvPr id="5" name="MarkdownSlidesTable"/>
          <p:cNvGraphicFramePr>
            <a:graphicFrameLocks noGrp="1"/>
          </p:cNvGraphicFramePr>
          <p:nvPr/>
        </p:nvGraphicFramePr>
        <p:xfrm>
          <a:off x="6172200" y="1825625"/>
          <a:ext cx="5181600" cy="4351338"/>
        </p:xfrm>
        <a:graphic>
          <a:graphicData uri="http://schemas.openxmlformats.org/drawingml/2006/table">
            <a:tbl>
              <a:tblPr firstRow="1" bandRow="1" firstCol="1">
                <a:tableStyleId>{B301B821-A1FF-4177-AEE7-76D212191A09}</a:tableStyleId>
              </a:tblPr>
              <a:tblGrid>
                <a:gridCol w="2590800"/>
                <a:gridCol w="2590800"/>
              </a:tblGrid>
              <a:tr h="145044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/>
                </a:tc>
              </a:tr>
              <a:tr h="145044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Complete</a:t>
                      </a:r>
                    </a:p>
                  </a:txBody>
                  <a:tcPr/>
                </a:tc>
              </a:tr>
              <a:tr h="145044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 in. Editable PowerPoint out.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--help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get started.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2026-08-31T21:00:12.9780000Z</dcterms:created>
  <dcterms:modified xsi:type="dcterms:W3CDTF">2026-08-31T21:00:12.9780000Z</dcterms:modified>
</coreProperties>
</file>