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  <p:sldId xmlns:ns0="http://schemas.openxmlformats.org/officeDocument/2006/relationships" id="289" ns0:id="rId41"/>
    <p:sldId xmlns:ns0="http://schemas.openxmlformats.org/officeDocument/2006/relationships" id="290" ns0:id="rId42"/>
    <p:sldId xmlns:ns0="http://schemas.openxmlformats.org/officeDocument/2006/relationships" id="291" ns0:id="rId43"/>
    <p:sldId xmlns:ns0="http://schemas.openxmlformats.org/officeDocument/2006/relationships" id="292" ns0:id="rId44"/>
    <p:sldId xmlns:ns0="http://schemas.openxmlformats.org/officeDocument/2006/relationships" id="293" ns0:id="rId45"/>
    <p:sldId xmlns:ns0="http://schemas.openxmlformats.org/officeDocument/2006/relationships" id="294" ns0:id="rId46"/>
    <p:sldId xmlns:ns0="http://schemas.openxmlformats.org/officeDocument/2006/relationships" id="295" ns0:id="rId47"/>
    <p:sldId xmlns:ns0="http://schemas.openxmlformats.org/officeDocument/2006/relationships" id="296" ns0:id="rId48"/>
    <p:sldId xmlns:ns0="http://schemas.openxmlformats.org/officeDocument/2006/relationships" id="297" ns0:id="rId49"/>
    <p:sldId xmlns:ns0="http://schemas.openxmlformats.org/officeDocument/2006/relationships" id="298" ns0:id="rId50"/>
    <p:sldId xmlns:ns0="http://schemas.openxmlformats.org/officeDocument/2006/relationships" id="299" ns0:id="rId51"/>
    <p:sldId xmlns:ns0="http://schemas.openxmlformats.org/officeDocument/2006/relationships" id="300" ns0:id="rId52"/>
    <p:sldId xmlns:ns0="http://schemas.openxmlformats.org/officeDocument/2006/relationships" id="301" ns0:id="rId53"/>
    <p:sldId xmlns:ns0="http://schemas.openxmlformats.org/officeDocument/2006/relationships" id="302" ns0:id="rId54"/>
    <p:sldId xmlns:ns0="http://schemas.openxmlformats.org/officeDocument/2006/relationships" id="303" ns0:id="rId55"/>
    <p:sldId xmlns:ns0="http://schemas.openxmlformats.org/officeDocument/2006/relationships" id="304" ns0:id="rId56"/>
    <p:sldId xmlns:ns0="http://schemas.openxmlformats.org/officeDocument/2006/relationships" id="305" ns0:id="rId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every theme color as a hard band in the background.</a:t>
            </a:r>
          </a:p>
          <a:p>
            <a:r>
              <a:t>From top to bottom: Dark 1, Light 1, Dark 2, Light 2, Accent 1 through Accent 6, Hyperlink, and Followed Hyperlink.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Language labels select syntax coloring. The highlighted code remains editable PowerPoint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TypeScript highlights type declarations, keywords, strings, and numeric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HTML highlights tags, attribute names, quoted values, and comments.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CSS highlights selectors, property names, color values, and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top-level thematic break separates the left and right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 1 supplies ordinary code. Accents 1, 2, and 3 supply keywords, values, and named tokens. Brightness is adjusted only as needed for 4.5 to 1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1 supplies ordinary code. The same accent slots are used with lighter variants where needed. Comments meet the same contrast target as other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16 by 16 grid estimates the background range beneath the content placeholder. HTML tags use Accent 1, values use Accent 2, and attributes use Accent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dark radial gradient demonstrates the light variant. Native theme references retain their slot and use brightness adjustments for the estimated background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and body use a reference defined on a later slide. The optional link title becomes a ScreenTip in PowerPoint. Hover over a link in Slide Show view to see the tip.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code block and result heading align with the parent list text. The HTML comment is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Zero is preserved with an editable text marker. Native numbering is used where PowerPoint supports it. The reference definition at the bottom is invisible and serves earlier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 xmlns:a="http://schemas.openxmlformats.org/drawingml/2006/main">
        <a:gradFill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hyperlink" Target="https://github.com/pseudosavant/markdown-pptx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notesSlide" Target="../notesSlides/notesSlide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notesSlide" Target="../notesSlides/notesSlide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converts constrained Markdown slide decks into editable PowerPoint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ATX </a:t>
            </a:r>
            <a:r>
              <a:rPr b="0" i="0">
                <a:solidFill>
                  <a:schemeClr val="dk1"/>
                </a:solidFill>
                <a:latin typeface="Consolas"/>
              </a:rPr>
              <a:t># H1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or Setext H1 starts a new slide. Optional slide front matter appears immediately after the heading. Everything until the next H1 belongs to that slide.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write </a:t>
            </a:r>
            <a:r>
              <a:rPr b="0" i="0">
                <a:solidFill>
                  <a:schemeClr val="dk1"/>
                </a:solidFill>
                <a:latin typeface="Consolas"/>
              </a:rPr>
              <a:t>deck.pptx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 out.pptx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choose the output path, </a:t>
            </a:r>
            <a:r>
              <a:rPr b="0" i="0">
                <a:solidFill>
                  <a:schemeClr val="dk1"/>
                </a:solidFill>
                <a:latin typeface="Consolas"/>
              </a:rPr>
              <a:t>--template theme.pptx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render against an existing PowerPoint template, and </a:t>
            </a:r>
            <a:r>
              <a:rPr b="0" i="0">
                <a:solidFill>
                  <a:schemeClr val="dk1"/>
                </a:solidFill>
                <a:latin typeface="Consolas"/>
              </a:rPr>
              <a:t>--force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with no arguments for the quick reference or use </a:t>
            </a:r>
            <a:r>
              <a:rPr b="0" i="0">
                <a:solidFill>
                  <a:schemeClr val="dk1"/>
                </a:solidFill>
                <a:latin typeface="Consolas"/>
              </a:rPr>
              <a:t>--about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--syntax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print the supported deck format,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--list-masters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a template's slide masters,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--list-layouts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layouts on a selected master, and </a:t>
            </a:r>
            <a:r>
              <a:rPr b="0" i="0">
                <a:solidFill>
                  <a:schemeClr val="dk1"/>
                </a:solidFill>
                <a:latin typeface="Consolas"/>
              </a:rPr>
              <a:t>--list-color-schemes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Add </a:t>
            </a:r>
            <a:r>
              <a:rPr b="0" i="0">
                <a:solidFill>
                  <a:schemeClr val="dk1"/>
                </a:solidFill>
                <a:latin typeface="Consolas"/>
              </a:rPr>
              <a:t>--json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template's </a:t>
            </a:r>
            <a:r>
              <a:rPr b="0" i="0">
                <a:solidFill>
                  <a:schemeClr val="dk1"/>
                </a:solidFill>
                <a:latin typeface="Consolas"/>
              </a:rPr>
              <a:t>Showcase Alternate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install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install the managed agent skill under </a:t>
            </a:r>
            <a:r>
              <a:rPr b="0" i="0">
                <a:solidFill>
                  <a:schemeClr val="dk1"/>
                </a:solidFill>
                <a:latin typeface="Consolas"/>
              </a:rPr>
              <a:t>~/.agents/skills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or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remove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can set document-level and slide-level colors with </a:t>
            </a:r>
            <a:r>
              <a:rPr b="0" i="0">
                <a:solidFill>
                  <a:schemeClr val="dk1"/>
                </a:solidFill>
                <a:latin typeface="Consolas"/>
              </a:rPr>
              <a:t>color_scheme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title_color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body_color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When a template already has the colors you want,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--ignore-document-colors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--ignore-slide-colors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dk1"/>
            </a:gs>
            <a:gs pos="20000">
              <a:schemeClr val="dk1"/>
            </a:gs>
            <a:gs pos="20000">
              <a:schemeClr val="lt1"/>
            </a:gs>
            <a:gs pos="27273">
              <a:schemeClr val="lt1"/>
            </a:gs>
            <a:gs pos="27273">
              <a:schemeClr val="dk2"/>
            </a:gs>
            <a:gs pos="34545">
              <a:schemeClr val="dk2"/>
            </a:gs>
            <a:gs pos="34545">
              <a:schemeClr val="lt2"/>
            </a:gs>
            <a:gs pos="41818">
              <a:schemeClr val="lt2"/>
            </a:gs>
            <a:gs pos="41818">
              <a:schemeClr val="accent1"/>
            </a:gs>
            <a:gs pos="49091">
              <a:schemeClr val="accent1"/>
            </a:gs>
            <a:gs pos="49091">
              <a:schemeClr val="accent2"/>
            </a:gs>
            <a:gs pos="56364">
              <a:schemeClr val="accent2"/>
            </a:gs>
            <a:gs pos="56364">
              <a:schemeClr val="accent3"/>
            </a:gs>
            <a:gs pos="63636">
              <a:schemeClr val="accent3"/>
            </a:gs>
            <a:gs pos="63636">
              <a:schemeClr val="accent4"/>
            </a:gs>
            <a:gs pos="70909">
              <a:schemeClr val="accent4"/>
            </a:gs>
            <a:gs pos="70909">
              <a:schemeClr val="accent5"/>
            </a:gs>
            <a:gs pos="78182">
              <a:schemeClr val="accent5"/>
            </a:gs>
            <a:gs pos="78182">
              <a:schemeClr val="accent6"/>
            </a:gs>
            <a:gs pos="85455">
              <a:schemeClr val="accent6"/>
            </a:gs>
            <a:gs pos="85455">
              <a:schemeClr val="hlink"/>
            </a:gs>
            <a:gs pos="92727">
              <a:schemeClr val="hlink"/>
            </a:gs>
            <a:gs pos="92727">
              <a:schemeClr val="folHlink"/>
            </a:gs>
            <a:gs pos="100000">
              <a:schemeClr val="folHlink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Every PowerPoint theme color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slide after this one isolates a single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can include links in normal body text, such as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project repository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3"/>
              </a:rPr>
              <a:t>python-pptx documentation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Normal text can mix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strong with </a:t>
            </a:r>
            <a:r>
              <a:rPr b="1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nested italic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italic emphasis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inline code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 strike="sngStrike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deleted text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H</a:t>
            </a:r>
            <a:r>
              <a:rPr b="0" i="0" baseline="-25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O, x</a:t>
            </a:r>
            <a:r>
              <a:rPr b="0" i="0" baseline="30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formatted links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 breaks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source line wraps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without forcing a visual break.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line ends here.</a:t>
            </a:r>
            <a:br/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next line stays in the same paragraph.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H6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Setext H2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Setext H1 slide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H1 underline can start a slide without an ATX marker.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 marL="123444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Open the generated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Task lists and continuations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Create the editable deck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Review the slides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Begin with a numbered item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Continue its explanation without another number.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Finish the sequence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markdown-pptx keeps the source format simple enough to read directly while still producing a real presentation.</a:t>
            </a:r>
          </a:p>
          <a:p>
            <a:pPr marL="685800" indent="-201168">
              <a:spcBef>
                <a:spcPts val="600"/>
              </a:spcBef>
              <a:spcAft>
                <a:spcPts val="600"/>
              </a:spcAft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Quoted lists keep their bullets.</a:t>
            </a:r>
          </a:p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block: PowerShell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uvx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</a:t>
            </a:r>
            <a:r>
              <a:rPr b="0" i="0">
                <a:solidFill>
                  <a:schemeClr val="dk1"/>
                </a:solidFill>
                <a:latin typeface="Consolas"/>
              </a:rPr>
              <a:t>-pptx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rgbClr val="008000"/>
                </a:solidFill>
                <a:latin typeface="Consolas"/>
              </a:rPr>
              <a:t>md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Python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# Summarize completed work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def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00FF"/>
                </a:solidFill>
                <a:latin typeface="Consolas"/>
              </a:rPr>
              <a:t>summarize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list</a:t>
            </a:r>
            <a:r>
              <a:rPr b="0" i="0">
                <a:solidFill>
                  <a:schemeClr val="dk1"/>
                </a:solidFill>
                <a:latin typeface="Consolas"/>
              </a:rPr>
              <a:t>[</a:t>
            </a:r>
            <a:r>
              <a:rPr b="0" i="0">
                <a:solidFill>
                  <a:srgbClr val="008000"/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]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-</a:t>
            </a:r>
            <a:r>
              <a:rPr b="0" i="0">
                <a:solidFill>
                  <a:srgbClr val="666666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len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1" i="0">
                <a:solidFill>
                  <a:srgbClr val="008000"/>
                </a:solidFill>
                <a:latin typeface="Consolas"/>
              </a:rPr>
              <a:t>return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f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Completed </a:t>
            </a:r>
            <a:r>
              <a:rPr b="1" i="0">
                <a:solidFill>
                  <a:srgbClr val="A45A77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1" i="0">
                <a:solidFill>
                  <a:srgbClr val="A45A77"/>
                </a:solidFill>
                <a:latin typeface="Consolas"/>
              </a:rPr>
              <a:t>}</a:t>
            </a:r>
            <a:r>
              <a:rPr b="0" i="0">
                <a:solidFill>
                  <a:srgbClr val="BA2121"/>
                </a:solidFill>
                <a:latin typeface="Consolas"/>
              </a:rPr>
              <a:t> tasks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br/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[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Design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Build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Review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]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if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len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&gt;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3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rgbClr val="008000"/>
                </a:solidFill>
                <a:latin typeface="Consolas"/>
              </a:rPr>
              <a:t>print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summarize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TypeScript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// Calculate the remaining work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type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string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number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1" i="0">
                <a:solidFill>
                  <a:srgbClr val="008000"/>
                </a:solidFill>
                <a:latin typeface="Consolas"/>
              </a:rPr>
              <a:t>const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remaining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number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=&gt;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return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Math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max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rgbClr val="666666"/>
                </a:solidFill>
                <a:latin typeface="Consolas"/>
              </a:rPr>
              <a:t>0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10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1" i="0">
                <a:solidFill>
                  <a:srgbClr val="008000"/>
                </a:solidFill>
                <a:latin typeface="Consolas"/>
              </a:rPr>
              <a:t>const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launch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"Launch"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7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console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log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rgbClr val="BA2121"/>
                </a:solidFill>
                <a:latin typeface="Consolas"/>
              </a:rPr>
              <a:t>`</a:t>
            </a:r>
            <a:r>
              <a:rPr b="0" i="0">
                <a:solidFill>
                  <a:srgbClr val="BA2121"/>
                </a:solidFill>
                <a:latin typeface="Consolas"/>
              </a:rPr>
              <a:t>Remaining: </a:t>
            </a:r>
            <a:r>
              <a:rPr b="1" i="0">
                <a:solidFill>
                  <a:srgbClr val="A45A77"/>
                </a:solidFill>
                <a:latin typeface="Consolas"/>
              </a:rPr>
              <a:t>${</a:t>
            </a:r>
            <a:r>
              <a:rPr b="0" i="0">
                <a:solidFill>
                  <a:schemeClr val="dk1"/>
                </a:solidFill>
                <a:latin typeface="Consolas"/>
              </a:rPr>
              <a:t>remaining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launch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1" i="0">
                <a:solidFill>
                  <a:srgbClr val="A45A77"/>
                </a:solidFill>
                <a:latin typeface="Consolas"/>
              </a:rPr>
              <a:t>}</a:t>
            </a:r>
            <a:r>
              <a:rPr b="0" i="0">
                <a:solidFill>
                  <a:srgbClr val="BA2121"/>
                </a:solidFill>
                <a:latin typeface="Consolas"/>
              </a:rPr>
              <a:t>`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HTML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&lt;!-- A compact project card --&gt;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class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"project-card"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id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"title"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Launch checklist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Three steps remain before release.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ul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Review the preview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Publish the update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ul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href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"/projects/launch"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View project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CSS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/* Style the project card */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1" i="0">
                <a:solidFill>
                  <a:srgbClr val="0000FF"/>
                </a:solidFill>
                <a:latin typeface="Consolas"/>
              </a:rPr>
              <a:t>project-card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display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grid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gap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12</a:t>
            </a:r>
            <a:r>
              <a:rPr b="0" i="0">
                <a:solidFill>
                  <a:srgbClr val="B00040"/>
                </a:solidFill>
                <a:latin typeface="Consolas"/>
              </a:rPr>
              <a:t>px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padding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24</a:t>
            </a:r>
            <a:r>
              <a:rPr b="0" i="0">
                <a:solidFill>
                  <a:srgbClr val="B00040"/>
                </a:solidFill>
                <a:latin typeface="Consolas"/>
              </a:rPr>
              <a:t>px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color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#10263f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background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#eef8ff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1" i="0">
                <a:solidFill>
                  <a:srgbClr val="0000FF"/>
                </a:solidFill>
                <a:latin typeface="Consolas"/>
              </a:rPr>
              <a:t>project-card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rgbClr val="AA22FF"/>
                </a:solidFill>
                <a:latin typeface="Consolas"/>
              </a:rPr>
              <a:t>hover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color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#1d6fa8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Local markdown-pptx sample image" title="Showcase image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Remote Python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8000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Two content areas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First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Small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Quick feedback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Second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Broader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More preparation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Text beside a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Progress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Design agreed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Delivery scheduled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/>
        </p:txBody>
      </p:sp>
      <p:graphicFrame>
        <p:nvGraphicFramePr>
          <p:cNvPr id="5" name="MarkdownSlidesTable"/>
          <p:cNvGraphicFramePr>
            <a:graphicFrameLocks noGrp="1"/>
          </p:cNvGraphicFramePr>
          <p:nvPr/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firstRow="1" bandRow="1" firstCol="1">
                <a:tableStyleId>{B301B821-A1FF-4177-AEE7-76D212191A09}</a:tableStyleId>
              </a:tblPr>
              <a:tblGrid>
                <a:gridCol w="2590800"/>
                <a:gridCol w="2590800"/>
              </a:tblGrid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Complete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Theme syntax: dark colors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code_highlighting: theme-dark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on a white background.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chemeClr val="dk1"/>
                </a:solidFill>
                <a:latin typeface="Consolas"/>
              </a:rPr>
              <a:t># Colors follow this deck's blue theme</a:t>
            </a:r>
            <a:br/>
            <a:r>
              <a:rPr b="1" i="0">
                <a:solidFill>
                  <a:schemeClr val="accent1"/>
                </a:solidFill>
                <a:latin typeface="Consolas"/>
              </a:rPr>
              <a:t>def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greet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int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3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1" i="0">
                <a:solidFill>
                  <a:schemeClr val="accent1"/>
                </a:solidFill>
                <a:latin typeface="Consolas"/>
              </a:rPr>
              <a:t>for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index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in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range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   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print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f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Hello,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}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: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index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}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greet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PowerPoint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Theme syntax: light colors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0">
                <a:solidFill>
                  <a:srgbClr val="FFFFFF"/>
                </a:solidFill>
                <a:latin typeface="Consolas"/>
              </a:rPr>
              <a:t>code_highlighting: theme-light</a:t>
            </a:r>
            <a:r>
              <a:rPr b="0" i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on a navy background.</a:t>
            </a:r>
            <a:endParaRPr>
              <a:solidFill>
                <a:srgbClr val="FFFFFF"/>
              </a:solidFill>
            </a:endParaRPr>
          </a:p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1">
                <a:solidFill>
                  <a:schemeClr val="lt1"/>
                </a:solidFill>
                <a:latin typeface="Consolas"/>
              </a:rPr>
              <a:t>// Editable theme colors on a dark slide</a:t>
            </a:r>
            <a:br/>
            <a:r>
              <a:rPr b="1" i="0">
                <a:solidFill>
                  <a:schemeClr val="accent1">
                    <a:lumMod val="80137"/>
                    <a:lumOff val="19863"/>
                  </a:schemeClr>
                </a:solidFill>
                <a:latin typeface="Consolas"/>
              </a:rPr>
              <a:t>interface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Greeting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{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message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3"/>
                </a:solidFill>
                <a:latin typeface="Consolas"/>
              </a:rPr>
              <a:t>string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}</a:t>
            </a:r>
            <a:br/>
            <a:r>
              <a:rPr b="1" i="0">
                <a:solidFill>
                  <a:schemeClr val="accent1">
                    <a:lumMod val="80137"/>
                    <a:lumOff val="19863"/>
                  </a:schemeClr>
                </a:solidFill>
                <a:latin typeface="Consolas"/>
              </a:rPr>
              <a:t>const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greet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=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lt1"/>
                </a:solidFill>
                <a:latin typeface="Consolas"/>
              </a:rPr>
              <a:t>name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3"/>
                </a:solidFill>
                <a:latin typeface="Consolas"/>
              </a:rPr>
              <a:t>string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Greeting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=&gt;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lt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0" i="0">
                <a:solidFill>
                  <a:schemeClr val="lt1"/>
                </a:solidFill>
                <a:latin typeface="Consolas"/>
              </a:rPr>
              <a:t>message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/>
                </a:solidFill>
                <a:latin typeface="Consolas"/>
              </a:rPr>
              <a:t>`</a:t>
            </a:r>
            <a:r>
              <a:rPr b="0" i="0">
                <a:solidFill>
                  <a:schemeClr val="accent2"/>
                </a:solidFill>
                <a:latin typeface="Consolas"/>
              </a:rPr>
              <a:t>Hello, </a:t>
            </a:r>
            <a:r>
              <a:rPr b="0" i="0">
                <a:solidFill>
                  <a:schemeClr val="accent2"/>
                </a:solidFill>
                <a:latin typeface="Consolas"/>
              </a:rPr>
              <a:t>${</a:t>
            </a:r>
            <a:r>
              <a:rPr b="0" i="0">
                <a:solidFill>
                  <a:schemeClr val="lt1"/>
                </a:solidFill>
                <a:latin typeface="Consolas"/>
              </a:rPr>
              <a:t>name</a:t>
            </a:r>
            <a:r>
              <a:rPr b="0" i="0">
                <a:solidFill>
                  <a:schemeClr val="accent2"/>
                </a:solidFill>
                <a:latin typeface="Consolas"/>
              </a:rPr>
              <a:t>}</a:t>
            </a:r>
            <a:r>
              <a:rPr b="0" i="0">
                <a:solidFill>
                  <a:schemeClr val="accent2"/>
                </a:solidFill>
                <a:latin typeface="Consolas"/>
              </a:rPr>
              <a:t>`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}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br/>
            <a:r>
              <a:rPr b="0" i="0">
                <a:solidFill>
                  <a:schemeClr val="lt1"/>
                </a:solidFill>
                <a:latin typeface="Consolas"/>
              </a:rPr>
              <a:t>console</a:t>
            </a:r>
            <a:r>
              <a:rPr b="0" i="0">
                <a:solidFill>
                  <a:schemeClr val="lt1"/>
                </a:solidFill>
                <a:latin typeface="Consolas"/>
              </a:rPr>
              <a:t>.</a:t>
            </a:r>
            <a:r>
              <a:rPr b="0" i="0">
                <a:solidFill>
                  <a:schemeClr val="lt1"/>
                </a:solidFill>
                <a:latin typeface="Consolas"/>
              </a:rPr>
              <a:t>log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lt1"/>
                </a:solidFill>
                <a:latin typeface="Consolas"/>
              </a:rPr>
              <a:t>greet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accent2"/>
                </a:solidFill>
                <a:latin typeface="Consolas"/>
              </a:rPr>
              <a:t>"PowerPoint"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D8EBF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Theme syntax: a light gradient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background range guides the brightness adjustments.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chemeClr val="dk1"/>
                </a:solidFill>
                <a:latin typeface="Consolas"/>
              </a:rPr>
              <a:t>&lt;!-- Theme colors stay editable --&gt;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49725"/>
                  </a:schemeClr>
                </a:solidFill>
                <a:latin typeface="Consolas"/>
              </a:rPr>
              <a:t>class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accent2">
                    <a:lumMod val="62515"/>
                  </a:schemeClr>
                </a:solidFill>
                <a:latin typeface="Consolas"/>
              </a:rPr>
              <a:t>"greeting"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Hello, PowerPoint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49725"/>
                  </a:schemeClr>
                </a:solidFill>
                <a:latin typeface="Consolas"/>
              </a:rPr>
              <a:t>data-state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accent2">
                    <a:lumMod val="62515"/>
                  </a:schemeClr>
                </a:solidFill>
                <a:latin typeface="Consolas"/>
              </a:rPr>
              <a:t>"ready"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Ready to present.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54D70"/>
            </a:gs>
            <a:gs pos="100000">
              <a:srgbClr val="102030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Theme syntax: a dark gradient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One palette is reused across all code blocks in this area.</a:t>
            </a:r>
            <a:endParaRPr>
              <a:solidFill>
                <a:srgbClr val="FFFFFF"/>
              </a:solidFill>
            </a:endParaRPr>
          </a:p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1">
                <a:solidFill>
                  <a:schemeClr val="lt1"/>
                </a:solidFill>
                <a:latin typeface="Consolas"/>
              </a:rPr>
              <a:t>/* Presentation colors follow the theme */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.</a:t>
            </a:r>
            <a:r>
              <a:rPr b="0" i="0">
                <a:solidFill>
                  <a:schemeClr val="accent3"/>
                </a:solidFill>
                <a:latin typeface="Consolas"/>
              </a:rPr>
              <a:t>greeting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color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77325"/>
                    <a:lumOff val="22675"/>
                  </a:schemeClr>
                </a:solidFill>
                <a:latin typeface="Consolas"/>
              </a:rPr>
              <a:t>#1d6fa8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padding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77325"/>
                    <a:lumOff val="22675"/>
                  </a:schemeClr>
                </a:solidFill>
                <a:latin typeface="Consolas"/>
              </a:rPr>
              <a:t>24</a:t>
            </a:r>
            <a:r>
              <a:rPr b="0" i="0">
                <a:solidFill>
                  <a:schemeClr val="accent3"/>
                </a:solidFill>
                <a:latin typeface="Consolas"/>
              </a:rPr>
              <a:t>px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display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grid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gap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77325"/>
                    <a:lumOff val="22675"/>
                  </a:schemeClr>
                </a:solidFill>
                <a:latin typeface="Consolas"/>
              </a:rPr>
              <a:t>12</a:t>
            </a:r>
            <a:r>
              <a:rPr b="0" i="0">
                <a:solidFill>
                  <a:schemeClr val="accent3"/>
                </a:solidFill>
                <a:latin typeface="Consolas"/>
              </a:rPr>
              <a:t>px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}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  <a:hlinkClick r:id="rId2" tooltip="Read the markdown-pptx guide"/>
              </a:rPr>
              <a:t>Shared references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Read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 tooltip="Read the markdown-pptx guide"/>
              </a:rPr>
              <a:t>project guide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same definition can supply links throughout the deck.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 tooltip="Open the markdown-pptx project"/>
              </a:rPr>
              <a:t>Formatted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 tooltip="Open the markdown-pptx project"/>
              </a:rPr>
              <a:t> </a:t>
            </a:r>
            <a:r>
              <a:rPr b="0" i="1">
                <a:solidFill>
                  <a:schemeClr val="dk1"/>
                </a:solidFill>
                <a:latin typeface="+mn-lt"/>
                <a:ea typeface="+mn-ea"/>
                <a:cs typeface="+mn-cs"/>
                <a:hlinkClick r:id="rId2" tooltip="Open the markdown-pptx project"/>
              </a:rPr>
              <a:t>links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retain their ScreenTips.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stays inside its list item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the check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status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Ready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br/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print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status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Result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Continue after checking the output.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Present the result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Numbering and reusable definitions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0.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Prepare the content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the presentation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Review in PowerPoint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Return to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 tooltip="Read the markdown-pptx guide"/>
              </a:rPr>
              <a:t>project guide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more examples.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--help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