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theme/theme2.xml" ContentType="application/vnd.openxmlformats-officedocument.theme+xml"/>
  <Override PartName="/ppt/slideMasters/theme/theme3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a35f6341b1ff46d3" Type="http://schemas.openxmlformats.org/package/2006/relationships/metadata/core-properties" Target="docProps/core.xml"/><Relationship Id="Rac10a82ca2574cd5" Type="http://schemas.openxmlformats.org/officeDocument/2006/relationships/extended-properties" Target="docProps/app.xml"/><Relationship Id="Rfdfa8a98105a4c94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57a6b133e734e76"/>
    <p:sldMasterId xmlns:r="http://schemas.openxmlformats.org/officeDocument/2006/relationships" id="2147483660" r:id="Rfe2c0a5d9f754a6a"/>
  </p:sldMasterIdLst>
  <p:notesMasterIdLst>
    <p:notesMasterId xmlns:r="http://schemas.openxmlformats.org/officeDocument/2006/relationships" r:id="Rbc83832983b5463b"/>
  </p:notesMasterIdLst>
  <p:sldIdLst>
    <p:sldId xmlns:ns0="http://schemas.openxmlformats.org/officeDocument/2006/relationships" id="256" ns0:id="rId8"/>
    <p:sldId xmlns:ns0="http://schemas.openxmlformats.org/officeDocument/2006/relationships" id="257" ns0:id="rId9"/>
    <p:sldId xmlns:ns0="http://schemas.openxmlformats.org/officeDocument/2006/relationships" id="258" ns0:id="rId10"/>
    <p:sldId xmlns:ns0="http://schemas.openxmlformats.org/officeDocument/2006/relationships" id="259" ns0:id="rId11"/>
    <p:sldId xmlns:ns0="http://schemas.openxmlformats.org/officeDocument/2006/relationships" id="260" ns0:id="rId12"/>
    <p:sldId xmlns:ns0="http://schemas.openxmlformats.org/officeDocument/2006/relationships" id="261" ns0:id="rId13"/>
    <p:sldId xmlns:ns0="http://schemas.openxmlformats.org/officeDocument/2006/relationships" id="262" ns0:id="rId14"/>
    <p:sldId xmlns:ns0="http://schemas.openxmlformats.org/officeDocument/2006/relationships" id="263" ns0:id="rId15"/>
    <p:sldId xmlns:ns0="http://schemas.openxmlformats.org/officeDocument/2006/relationships" id="264" ns0:id="rId16"/>
    <p:sldId xmlns:ns0="http://schemas.openxmlformats.org/officeDocument/2006/relationships" id="265" ns0:id="rId17"/>
    <p:sldId xmlns:ns0="http://schemas.openxmlformats.org/officeDocument/2006/relationships" id="266" ns0:id="rId18"/>
    <p:sldId xmlns:ns0="http://schemas.openxmlformats.org/officeDocument/2006/relationships" id="267" ns0:id="rId19"/>
    <p:sldId xmlns:ns0="http://schemas.openxmlformats.org/officeDocument/2006/relationships" id="268" ns0:id="rId20"/>
    <p:sldId xmlns:ns0="http://schemas.openxmlformats.org/officeDocument/2006/relationships" id="269" ns0:id="rId21"/>
    <p:sldId xmlns:ns0="http://schemas.openxmlformats.org/officeDocument/2006/relationships" id="270" ns0:id="rId22"/>
    <p:sldId xmlns:ns0="http://schemas.openxmlformats.org/officeDocument/2006/relationships" id="271" ns0:id="rId23"/>
    <p:sldId xmlns:ns0="http://schemas.openxmlformats.org/officeDocument/2006/relationships" id="272" ns0:id="rId24"/>
    <p:sldId xmlns:ns0="http://schemas.openxmlformats.org/officeDocument/2006/relationships" id="273" ns0:id="rId25"/>
    <p:sldId xmlns:ns0="http://schemas.openxmlformats.org/officeDocument/2006/relationships" id="274" ns0:id="rId26"/>
    <p:sldId xmlns:ns0="http://schemas.openxmlformats.org/officeDocument/2006/relationships" id="275" ns0:id="rId27"/>
    <p:sldId xmlns:ns0="http://schemas.openxmlformats.org/officeDocument/2006/relationships" id="276" ns0:id="rId28"/>
    <p:sldId xmlns:ns0="http://schemas.openxmlformats.org/officeDocument/2006/relationships" id="277" ns0:id="rId29"/>
    <p:sldId xmlns:ns0="http://schemas.openxmlformats.org/officeDocument/2006/relationships" id="278" ns0:id="rId30"/>
    <p:sldId xmlns:ns0="http://schemas.openxmlformats.org/officeDocument/2006/relationships" id="279" ns0:id="rId31"/>
    <p:sldId xmlns:ns0="http://schemas.openxmlformats.org/officeDocument/2006/relationships" id="280" ns0:id="rId32"/>
    <p:sldId xmlns:ns0="http://schemas.openxmlformats.org/officeDocument/2006/relationships" id="281" ns0:id="rId33"/>
    <p:sldId xmlns:ns0="http://schemas.openxmlformats.org/officeDocument/2006/relationships" id="282" ns0:id="rId34"/>
    <p:sldId xmlns:ns0="http://schemas.openxmlformats.org/officeDocument/2006/relationships" id="283" ns0:id="rId35"/>
    <p:sldId xmlns:ns0="http://schemas.openxmlformats.org/officeDocument/2006/relationships" id="284" ns0:id="rId36"/>
    <p:sldId xmlns:ns0="http://schemas.openxmlformats.org/officeDocument/2006/relationships" id="285" ns0:id="rId37"/>
    <p:sldId xmlns:ns0="http://schemas.openxmlformats.org/officeDocument/2006/relationships" id="286" ns0:id="rId38"/>
    <p:sldId xmlns:ns0="http://schemas.openxmlformats.org/officeDocument/2006/relationships" id="287" ns0:id="rId39"/>
    <p:sldId xmlns:ns0="http://schemas.openxmlformats.org/officeDocument/2006/relationships" id="288" ns0:id="rId40"/>
    <p:sldId xmlns:ns0="http://schemas.openxmlformats.org/officeDocument/2006/relationships" id="289" ns0:id="rId41"/>
    <p:sldId xmlns:ns0="http://schemas.openxmlformats.org/officeDocument/2006/relationships" id="290" ns0:id="rId42"/>
    <p:sldId xmlns:ns0="http://schemas.openxmlformats.org/officeDocument/2006/relationships" id="291" ns0:id="rId43"/>
    <p:sldId xmlns:ns0="http://schemas.openxmlformats.org/officeDocument/2006/relationships" id="292" ns0:id="rId4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2403ee377bf24d54" Type="http://schemas.openxmlformats.org/officeDocument/2006/relationships/presProps" Target="presProps.xml"/><Relationship Id="R257a6b133e734e76" Type="http://schemas.openxmlformats.org/officeDocument/2006/relationships/slideMaster" Target="slideMasters/slideMaster1.xml"/><Relationship Id="R4643ad08ad724dff" Type="http://schemas.openxmlformats.org/officeDocument/2006/relationships/theme" Target="theme/theme1.xml"/><Relationship Id="R4b7bfd43501e4187" Type="http://schemas.openxmlformats.org/officeDocument/2006/relationships/tableStyles" Target="tableStyles.xml"/><Relationship Id="Rbc83832983b5463b" Type="http://schemas.openxmlformats.org/officeDocument/2006/relationships/notesMaster" Target="notesMasters/notesMaster1.xml"/><Relationship Id="Rfa3fe3d09625471e" Type="http://schemas.openxmlformats.org/officeDocument/2006/relationships/viewProps" Target="viewProps.xml"/><Relationship Id="Rfe2c0a5d9f754a6a" Type="http://schemas.openxmlformats.org/officeDocument/2006/relationships/slideMaster" Target="slideMasters/slideMaster2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ecb8d5aab9bc4248" Type="http://schemas.openxmlformats.org/officeDocument/2006/relationships/theme" Target="theme/theme4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uses every theme color as a hard band in the background.</a:t>
            </a:r>
          </a:p>
          <a:p>
            <a:r>
              <a:t>From top to bottom: Dark 1, Light 1, Dark 2, Light 2, Accent 1 through Accent 6, Hyperlink, and Followed Hyperlink.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demonstrates downloading a remote image during rendering.</a:t>
            </a:r>
          </a:p>
          <a:p>
            <a:r>
              <a:t>[Sources]</a:t>
            </a:r>
          </a:p>
          <a:p>
            <a:r>
              <a:t>- https://raw.githubusercontent.com/github/explore/main/topics/python/python.png (Python logo)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demonstrates a full-slide background image on the Blank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intentionally demonstrates the Blank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b67cb4b70c8d4dec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50980c3dff974b39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1d472eccc3b040c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b456b81ad14b4dcf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48497423c7c54a7a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c80c955011a64d56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58acc42dbcb546bd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6cba100e7a0e420e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c093b58cdbe4483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06ae5e9c06d94404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77c51e203f8143e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4e053d118c214d5a" Type="http://schemas.openxmlformats.org/officeDocument/2006/relationships/slideMaster" Target="../slideMasters/slideMaster2.xml"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E0EFC93-8786-03A5-FF46-60AC373CF4F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CC48827-FAFE-757E-1BDE-A06E4510EB0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693809F-6FD5-1B03-1567-1763DC11F53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2BC750-76C4-37C3-4C64-87D13E5FC9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FBCEC4E-AFC9-D7F0-CE75-B4633A0D3E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7B371E-C732-84F9-BD3D-F382350F6C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9099C3E-757B-E19D-4285-78E92C34588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D396C4F-1DE2-3AA4-9C9B-C75122B0B6E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5D30F03-70A8-65F8-0B28-472538E3213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2B5102F-77D2-EA7A-2828-55575C441A7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B96A4C5-25EB-9DBF-9AE7-B4B50751A2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1F4BB36-C20B-2A12-776D-B8CF328A3F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1DC8ECC-F7D5-73A7-B8E3-B1A0CA7D44B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A2E49D5-1C9F-8D40-CCB4-B471C95281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4B6321D-21FC-FE13-115B-7AF14C0200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3357A5E-A34A-0C04-152E-1448113EB2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A92B90F-81A0-2A83-4F7C-F1C9B579C57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AC1E1D5-7ED1-2D69-071E-F87266FD0B3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1D40E98-9414-6423-290B-4D393029BA0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5492CC8-1E8A-086B-88FB-AE86F243CC3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C67E5F9-26DA-4072-D5BB-1084A6A1C2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C4CAB7B-46DD-FE93-9C9D-1D30555FC0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86AD5FF-026E-DD96-F130-348C21A5C0C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086DF69-2038-8BD6-CA4A-1E3BBE67564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C9318A0-C4ED-7F91-CD79-9089D088ACF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B771C1DB-9CB8-2692-9782-82569302F62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BDC32B4-BF9C-89B5-296C-7F0E74347B4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BD5AFAD-62FA-AD1A-1E97-95C982D7BF9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99730FC9-1B0B-E421-D011-9201EAE2A3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DE9C342-6914-9E17-B798-8659872DDE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2F670CD-E95D-72AB-A97F-908471A0ED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05D6C3B5-CB93-F497-CA2F-F03AC985F6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702D53CC-6E53-168F-C009-49EEC83EB53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0B72EB3-4F17-5706-8B26-3235B26BCA4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E33266D-F165-6DB3-9C5A-DF0901DD025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4A4B781-F948-D676-3548-31D67D40A7F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4881042-B979-E1A9-7DFA-48CA53E74CD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540C8C-D4A7-4F29-E296-5BE456BA58D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E933AD6-C50B-8360-04D8-6DDA04E93ED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A7AC5C1-0FE0-4F70-8F57-4DF471E1A0A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A302485-1CFA-0B33-3618-9AED445BB37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E209CB3-0932-74FD-8F06-528D05A9E36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94C83F8-CEC4-7941-A0F9-844FA16120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BD214E2B-0179-1A01-582B-EFB5BB37A71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D0B335-F7A1-F1F0-3588-8E5344EE66B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52C83E5-7ABA-5071-C4FF-CCD884099EC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8F6AAE3-E4A3-7AB6-0605-B74031B0792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CF5FC47-A572-8EC0-82F2-A82C8B53A64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12A80E8-FA40-761C-C204-D27DAF2EC6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F587A76-E4B7-7F94-F8FF-CB53E8CB5D5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32732A7-9B99-C553-881C-884C1E072FE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85AB7C5-17F0-6DCA-7C9A-A80259CB2D1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5C021F4-82F6-6D70-16D1-DB8A5BF9A58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CBCFCB39-CC34-1B9C-6E89-D8EB45AC9E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F778CF9-71D7-F3A2-6409-2117C055BAE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17D1AE-0E61-EBCA-F251-4E08C554A4E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AB61B56-D627-359F-ADE6-41AC5763ACA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63BA388-298F-82D3-1EDB-F9D8764A79F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D0387A3-D0F6-4944-90DD-EAC0C4F6A8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796BE7C-654E-4D18-848D-B815DEB5C01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9675FB1-F886-4AE5-A4FB-1026BEA893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ED6AE83-BBC3-4D2B-8EC0-B2B6C17C4EF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49F1031-F856-44C0-ABDB-46B15803216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a23e01c2b964ac9" Type="http://schemas.openxmlformats.org/officeDocument/2006/relationships/slideLayout" Target="../slideLayouts/slideLayout7.xml"/><Relationship Id="R2ab4a3697f914079" Type="http://schemas.openxmlformats.org/officeDocument/2006/relationships/theme" Target="theme/theme2.xml"/><Relationship Id="R34bbff6b3fd241e0" Type="http://schemas.openxmlformats.org/officeDocument/2006/relationships/slideLayout" Target="../slideLayouts/slideLayout10.xml"/><Relationship Id="R4108fd965e304035" Type="http://schemas.openxmlformats.org/officeDocument/2006/relationships/slideLayout" Target="../slideLayouts/slideLayout4.xml"/><Relationship Id="R67fb8e06bbb74233" Type="http://schemas.openxmlformats.org/officeDocument/2006/relationships/slideLayout" Target="../slideLayouts/slideLayout6.xml"/><Relationship Id="R6d1712a483d14045" Type="http://schemas.openxmlformats.org/officeDocument/2006/relationships/slideLayout" Target="../slideLayouts/slideLayout9.xml"/><Relationship Id="R796594545dbe4220" Type="http://schemas.openxmlformats.org/officeDocument/2006/relationships/slideLayout" Target="../slideLayouts/slideLayout8.xml"/><Relationship Id="R9792dec0e8ea4606" Type="http://schemas.openxmlformats.org/officeDocument/2006/relationships/slideLayout" Target="../slideLayouts/slideLayout3.xml"/><Relationship Id="Rd31f680fa67d48b6" Type="http://schemas.openxmlformats.org/officeDocument/2006/relationships/slideLayout" Target="../slideLayouts/slideLayout11.xml"/><Relationship Id="Re5be6833617e488f" Type="http://schemas.openxmlformats.org/officeDocument/2006/relationships/slideLayout" Target="../slideLayouts/slideLayout2.xml"/><Relationship Id="Rf18a82e3e5e64b3d" Type="http://schemas.openxmlformats.org/officeDocument/2006/relationships/slideLayout" Target="../slideLayouts/slideLayout5.xml"/><Relationship Id="Rfa7ec47c039f43ce" Type="http://schemas.openxmlformats.org/officeDocument/2006/relationships/slideLayout" Target="../slideLayouts/slideLayout1.xml"/></Relationships>
</file>

<file path=ppt/slideMasters/_rels/slideMaster2.xml.rels><?xml version='1.0' encoding='UTF-8' standalone='yes'?>
<Relationships xmlns="http://schemas.openxmlformats.org/package/2006/relationships"><Relationship Id="R359d5ed17e60436b" Type="http://schemas.openxmlformats.org/officeDocument/2006/relationships/theme" Target="theme/theme3.xml"/><Relationship Id="R9ac0e3ffa6dd449e" Type="http://schemas.openxmlformats.org/officeDocument/2006/relationships/slideLayout" Target="../slideLayouts/slideLayout12.xml"/></Relationships>
</file>

<file path=ppt/slideMasters/slideMaster1.xml><?xml version="1.0" encoding="utf-8"?>
<p:sldMaster xmlns:p="http://schemas.openxmlformats.org/presentationml/2006/main">
  <p:cSld>
    <p:bg>
      <p:bgPr xmlns:a="http://schemas.openxmlformats.org/drawingml/2006/main">
        <a:gradFill rotWithShape="1">
          <a:gsLst>
            <a:gs pos="0">
              <a:srgbClr val="F3FAFF"/>
            </a:gs>
            <a:gs pos="54000">
              <a:srgbClr val="E6F4FF"/>
            </a:gs>
            <a:gs pos="100000">
              <a:srgbClr val="FFE7BF"/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2CBAE84-EA4C-C8F8-3709-EDD14D1F56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594B1F3-85AD-9F78-4219-27AB7B47AEF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789BC02-5FD5-5699-6FDA-44B4FBD1DEA1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F316B89-3F62-F24C-2EE3-C5284C7EAB8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8F17629-D3CC-42DF-0750-5B632BDCD47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a7ec47c039f43ce"/>
    <p:sldLayoutId xmlns:r="http://schemas.openxmlformats.org/officeDocument/2006/relationships" id="2147483650" r:id="Re5be6833617e488f"/>
    <p:sldLayoutId xmlns:r="http://schemas.openxmlformats.org/officeDocument/2006/relationships" id="2147483651" r:id="R9792dec0e8ea4606"/>
    <p:sldLayoutId xmlns:r="http://schemas.openxmlformats.org/officeDocument/2006/relationships" id="2147483652" r:id="R4108fd965e304035"/>
    <p:sldLayoutId xmlns:r="http://schemas.openxmlformats.org/officeDocument/2006/relationships" id="2147483653" r:id="Rf18a82e3e5e64b3d"/>
    <p:sldLayoutId xmlns:r="http://schemas.openxmlformats.org/officeDocument/2006/relationships" id="2147483654" r:id="R67fb8e06bbb74233"/>
    <p:sldLayoutId xmlns:r="http://schemas.openxmlformats.org/officeDocument/2006/relationships" id="2147483655" r:id="R2a23e01c2b964ac9"/>
    <p:sldLayoutId xmlns:r="http://schemas.openxmlformats.org/officeDocument/2006/relationships" id="2147483656" r:id="R796594545dbe4220"/>
    <p:sldLayoutId xmlns:r="http://schemas.openxmlformats.org/officeDocument/2006/relationships" id="2147483657" r:id="R6d1712a483d14045"/>
    <p:sldLayoutId xmlns:r="http://schemas.openxmlformats.org/officeDocument/2006/relationships" id="2147483658" r:id="R34bbff6b3fd241e0"/>
    <p:sldLayoutId xmlns:r="http://schemas.openxmlformats.org/officeDocument/2006/relationships" id="2147483659" r:id="Rd31f680fa67d48b6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Showcase Alternate">
    <p:bg>
      <p:bgPr>
        <a:gradFill xmlns:a="http://schemas.openxmlformats.org/drawingml/2006/main" rotWithShape="1">
          <a:gsLst>
            <a:gs pos="0">
              <a:srgbClr val="F3FAFF"/>
            </a:gs>
            <a:gs pos="54000">
              <a:srgbClr val="E6F4FF"/>
            </a:gs>
            <a:gs pos="100000">
              <a:srgbClr val="FFE7BF"/>
            </a:gs>
          </a:gsLst>
          <a:lin ang="16200000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9DBD5440-81DE-4125-BFCA-1F0A6F9758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D5AC8E2-5AD2-4038-8795-E9DD85339A0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39A8D43-E25A-437D-8C1B-42ACE45ACC62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87D6C8F-E122-441D-85AE-BAD1583A4EA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5C8BD47-8872-45F8-9C11-7C7B5D4AC1E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  <p:sp>
        <p:nvSpPr>
          <p:cNvPr id="12" name="alternate-master-accent">
            <a:extLst xmlns:a="http://schemas.openxmlformats.org/drawingml/2006/main">
              <a:ext uri="{FF2B5EF4-FFF2-40B4-BE49-F238E27FC236}">
                <a16:creationId xmlns:a16="http://schemas.microsoft.com/office/drawing/2014/main" id="{2E668EBD-2B38-4C86-8681-513DF9DAC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347"/>
          </a:solidFill>
          <a:ln xmlns:a="http://schemas.openxmlformats.org/drawingml/2006/main" w="0">
            <a:noFill/>
            <a:prstDash val="solid"/>
          </a:ln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1" r:id="R9ac0e3ffa6dd449e"/>
  </p:sldLayoutIdLst>
</p:sldMaster>
</file>

<file path=ppt/slideMasters/theme/theme2.xml><?xml version="1.0" encoding="utf-8"?>
<a:theme xmlns:a="http://schemas.openxmlformats.org/drawingml/2006/main" name="Office Theme">
  <a:themeElements>
    <a:clrScheme name="Custom">
      <a:dk1>
        <a:srgbClr val="10263F"/>
      </a:dk1>
      <a:lt1>
        <a:srgbClr val="F9F9F9"/>
      </a:lt1>
      <a:dk2>
        <a:srgbClr val="355A78"/>
      </a:dk2>
      <a:lt2>
        <a:srgbClr val="EEF8FF"/>
      </a:lt2>
      <a:accent1>
        <a:srgbClr val="1D6FA8"/>
      </a:accent1>
      <a:accent2>
        <a:srgbClr val="5AA9E6"/>
      </a:accent2>
      <a:accent3>
        <a:srgbClr val="7FC8F8"/>
      </a:accent3>
      <a:accent4>
        <a:srgbClr val="FFB347"/>
      </a:accent4>
      <a:accent5>
        <a:srgbClr val="FF6392"/>
      </a:accent5>
      <a:accent6>
        <a:srgbClr val="144F79"/>
      </a:accent6>
      <a:hlink>
        <a:srgbClr val="1D6FA8"/>
      </a:hlink>
      <a:folHlink>
        <a:srgbClr val="355A78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Office Theme">
  <a:themeElements>
    <a:clrScheme name="Custom">
      <a:dk1>
        <a:srgbClr val="10263F"/>
      </a:dk1>
      <a:lt1>
        <a:srgbClr val="F9F9F9"/>
      </a:lt1>
      <a:dk2>
        <a:srgbClr val="355A78"/>
      </a:dk2>
      <a:lt2>
        <a:srgbClr val="EEF8FF"/>
      </a:lt2>
      <a:accent1>
        <a:srgbClr val="1D6FA8"/>
      </a:accent1>
      <a:accent2>
        <a:srgbClr val="5AA9E6"/>
      </a:accent2>
      <a:accent3>
        <a:srgbClr val="7FC8F8"/>
      </a:accent3>
      <a:accent4>
        <a:srgbClr val="FFB347"/>
      </a:accent4>
      <a:accent5>
        <a:srgbClr val="FF6392"/>
      </a:accent5>
      <a:accent6>
        <a:srgbClr val="144F79"/>
      </a:accent6>
      <a:hlink>
        <a:srgbClr val="1D6FA8"/>
      </a:hlink>
      <a:folHlink>
        <a:srgbClr val="355A78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github.com/pseudosavant/markdown-pptx" TargetMode="External"/><Relationship Id="rId3" Type="http://schemas.openxmlformats.org/officeDocument/2006/relationships/hyperlink" Target="https://python-pptx.readthedocs.io/en/latest/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github.com/pseudosavant/markdown-pptx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hyperlink" Target="https://github.com/pseudosavant/markdown-pptx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markdown-pptx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Markdown in. Editable PowerPoint out.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What markdown-pptx is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Consolas"/>
              </a:rPr>
              <a:t>markdown-pptx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converts constrained Markdown slide decks into editable PowerPoint </a:t>
            </a:r>
            <a:r>
              <a:rPr b="0" i="0">
                <a:solidFill>
                  <a:schemeClr val="dk1"/>
                </a:solidFill>
                <a:latin typeface="Consolas"/>
              </a:rPr>
              <a:t>.pptx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presentations.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It uses real PowerPoint layouts and placeholders, so the output stays easy to edit in PowerPoint instead of becoming a pile of free-positioned text boxes.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How the format works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An optional document front matter block sets deck-wide defaults such as aspect ratio, fonts, colors, and background behavior.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Each ATX </a:t>
            </a:r>
            <a:r>
              <a:rPr b="0" i="0">
                <a:solidFill>
                  <a:schemeClr val="dk1"/>
                </a:solidFill>
                <a:latin typeface="Consolas"/>
              </a:rPr>
              <a:t># H1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or Setext H1 starts a new slide. Optional slide front matter appears immediately after the heading. Everything until the next H1 belongs to that slide.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Basic CLI usage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Run </a:t>
            </a:r>
            <a:r>
              <a:rPr b="0" i="0">
                <a:solidFill>
                  <a:schemeClr val="dk1"/>
                </a:solidFill>
                <a:latin typeface="Consolas"/>
              </a:rPr>
              <a:t>uvx markdown-pptx deck.md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write </a:t>
            </a:r>
            <a:r>
              <a:rPr b="0" i="0">
                <a:solidFill>
                  <a:schemeClr val="dk1"/>
                </a:solidFill>
                <a:latin typeface="Consolas"/>
              </a:rPr>
              <a:t>deck.pptx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next to the source markdown file.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Use </a:t>
            </a:r>
            <a:r>
              <a:rPr b="0" i="0">
                <a:solidFill>
                  <a:schemeClr val="dk1"/>
                </a:solidFill>
                <a:latin typeface="Consolas"/>
              </a:rPr>
              <a:t>uvx markdown-pptx deck.md out.pptx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choose the output path, </a:t>
            </a:r>
            <a:r>
              <a:rPr b="0" i="0">
                <a:solidFill>
                  <a:schemeClr val="dk1"/>
                </a:solidFill>
                <a:latin typeface="Consolas"/>
              </a:rPr>
              <a:t>--template theme.pptx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render against an existing PowerPoint template, and </a:t>
            </a:r>
            <a:r>
              <a:rPr b="0" i="0">
                <a:solidFill>
                  <a:schemeClr val="dk1"/>
                </a:solidFill>
                <a:latin typeface="Consolas"/>
              </a:rPr>
              <a:t>--force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overwrite an existing file.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Run </a:t>
            </a:r>
            <a:r>
              <a:rPr b="0" i="0">
                <a:solidFill>
                  <a:schemeClr val="dk1"/>
                </a:solidFill>
                <a:latin typeface="Consolas"/>
              </a:rPr>
              <a:t>uvx markdown-pptx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with no arguments for the quick reference or use </a:t>
            </a:r>
            <a:r>
              <a:rPr b="0" i="0">
                <a:solidFill>
                  <a:schemeClr val="dk1"/>
                </a:solidFill>
                <a:latin typeface="Consolas"/>
              </a:rPr>
              <a:t>--about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for project metadata.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Inspection-friendly CLI modes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Use </a:t>
            </a:r>
            <a:r>
              <a:rPr b="0" i="0">
                <a:solidFill>
                  <a:schemeClr val="dk1"/>
                </a:solidFill>
                <a:latin typeface="Consolas"/>
              </a:rPr>
              <a:t>--syntax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print the supported deck format, </a:t>
            </a:r>
            <a:r>
              <a:rPr b="0" i="0">
                <a:solidFill>
                  <a:schemeClr val="dk1"/>
                </a:solidFill>
                <a:latin typeface="Consolas"/>
              </a:rPr>
              <a:t>--list-masters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inspect a template's slide masters, </a:t>
            </a:r>
            <a:r>
              <a:rPr b="0" i="0">
                <a:solidFill>
                  <a:schemeClr val="dk1"/>
                </a:solidFill>
                <a:latin typeface="Consolas"/>
              </a:rPr>
              <a:t>--list-layouts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inspect layouts on a selected master, and </a:t>
            </a:r>
            <a:r>
              <a:rPr b="0" i="0">
                <a:solidFill>
                  <a:schemeClr val="dk1"/>
                </a:solidFill>
                <a:latin typeface="Consolas"/>
              </a:rPr>
              <a:t>--list-color-schemes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see the built-in theme presets.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Add </a:t>
            </a:r>
            <a:r>
              <a:rPr b="0" i="0">
                <a:solidFill>
                  <a:schemeClr val="dk1"/>
                </a:solidFill>
                <a:latin typeface="Consolas"/>
              </a:rPr>
              <a:t>--json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for structured results. Master and layout inspection report names, indices, placeholder inventory, and compatibility so people and coding agents can discover valid inputs before generating a deck.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Master and layout selection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slide uses the template's </a:t>
            </a:r>
            <a:r>
              <a:rPr b="0" i="0">
                <a:solidFill>
                  <a:schemeClr val="dk1"/>
                </a:solidFill>
                <a:latin typeface="Consolas"/>
              </a:rPr>
              <a:t>Showcase Alternate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master while the rest of the deck defaults to master 1. Templates keep every embedded master in the output.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Master selection uses slide metadata first, then the CLI default, then master 1. Layout names are resolved within the selected master.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Agent skill support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Run </a:t>
            </a:r>
            <a:r>
              <a:rPr b="0" i="0">
                <a:solidFill>
                  <a:schemeClr val="dk1"/>
                </a:solidFill>
                <a:latin typeface="Consolas"/>
              </a:rPr>
              <a:t>uvx markdown-pptx skill install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install the managed agent skill under </a:t>
            </a:r>
            <a:r>
              <a:rPr b="0" i="0">
                <a:solidFill>
                  <a:schemeClr val="dk1"/>
                </a:solidFill>
                <a:latin typeface="Consolas"/>
              </a:rPr>
              <a:t>~/.agents/skills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or </a:t>
            </a:r>
            <a:r>
              <a:rPr b="0" i="0">
                <a:solidFill>
                  <a:schemeClr val="dk1"/>
                </a:solidFill>
                <a:latin typeface="Consolas"/>
              </a:rPr>
              <a:t>uvx markdown-pptx skill remove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remove it safely.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The skill teaches agents to inspect syntax, masters, and layouts; prefer structured output; respect overwrite safety; and handle local or remote images predictably.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Color and template control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Markdown can set document-level and slide-level colors with </a:t>
            </a:r>
            <a:r>
              <a:rPr b="0" i="0">
                <a:solidFill>
                  <a:schemeClr val="dk1"/>
                </a:solidFill>
                <a:latin typeface="Consolas"/>
              </a:rPr>
              <a:t>color_scheme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</a:t>
            </a:r>
            <a:r>
              <a:rPr b="0" i="0">
                <a:solidFill>
                  <a:schemeClr val="dk1"/>
                </a:solidFill>
                <a:latin typeface="Consolas"/>
              </a:rPr>
              <a:t>title_color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</a:t>
            </a:r>
            <a:r>
              <a:rPr b="0" i="0">
                <a:solidFill>
                  <a:schemeClr val="dk1"/>
                </a:solidFill>
                <a:latin typeface="Consolas"/>
              </a:rPr>
              <a:t>body_color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and background values such as solid colors, gradients, and images.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When a template already has the colors you want, </a:t>
            </a:r>
            <a:r>
              <a:rPr b="0" i="0">
                <a:solidFill>
                  <a:schemeClr val="dk1"/>
                </a:solidFill>
                <a:latin typeface="Consolas"/>
              </a:rPr>
              <a:t>--ignore-document-colors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and </a:t>
            </a:r>
            <a:r>
              <a:rPr b="0" i="0">
                <a:solidFill>
                  <a:schemeClr val="dk1"/>
                </a:solidFill>
                <a:latin typeface="Consolas"/>
              </a:rPr>
              <a:t>--ignore-slide-colors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let the template remain the source of truth for those color settings.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DEE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rgbClr val="1D72AA"/>
                </a:solidFill>
              </a:defRPr>
            </a:pPr>
            <a:r>
              <a:rPr>
                <a:solidFill>
                  <a:srgbClr val="1D72AA"/>
                </a:solidFill>
              </a:rPr>
              <a:t>Supported color formats</a:t>
            </a:r>
            <a:endParaRPr>
              <a:solidFill>
                <a:srgbClr val="1D72A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rgbClr val="10263F"/>
                </a:solidFill>
              </a:defRPr>
            </a:pPr>
            <a:r>
              <a:rPr b="0" i="0">
                <a:solidFill>
                  <a:srgbClr val="10263F"/>
                </a:solidFill>
                <a:latin typeface="+mn-lt"/>
                <a:ea typeface="+mn-ea"/>
                <a:cs typeface="+mn-cs"/>
              </a:rPr>
              <a:t>Colors accept short or long hex, RGB, HSL, and PowerPoint theme references such as </a:t>
            </a:r>
            <a:r>
              <a:rPr b="0" i="0">
                <a:solidFill>
                  <a:srgbClr val="10263F"/>
                </a:solidFill>
                <a:latin typeface="Consolas"/>
              </a:rPr>
              <a:t>var(--accent-1)</a:t>
            </a:r>
            <a:r>
              <a:rPr b="0" i="0">
                <a:solidFill>
                  <a:srgbClr val="10263F"/>
                </a:solidFill>
                <a:latin typeface="+mn-lt"/>
                <a:ea typeface="+mn-ea"/>
                <a:cs typeface="+mn-cs"/>
              </a:rPr>
              <a:t>.</a:t>
            </a:r>
            <a:endParaRPr>
              <a:solidFill>
                <a:srgbClr val="10263F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dk1"/>
            </a:gs>
            <a:gs pos="20000">
              <a:schemeClr val="dk1"/>
            </a:gs>
            <a:gs pos="20000">
              <a:schemeClr val="lt1"/>
            </a:gs>
            <a:gs pos="27273">
              <a:schemeClr val="lt1"/>
            </a:gs>
            <a:gs pos="27273">
              <a:schemeClr val="dk2"/>
            </a:gs>
            <a:gs pos="34545">
              <a:schemeClr val="dk2"/>
            </a:gs>
            <a:gs pos="34545">
              <a:schemeClr val="lt2"/>
            </a:gs>
            <a:gs pos="41818">
              <a:schemeClr val="lt2"/>
            </a:gs>
            <a:gs pos="41818">
              <a:schemeClr val="accent1"/>
            </a:gs>
            <a:gs pos="49091">
              <a:schemeClr val="accent1"/>
            </a:gs>
            <a:gs pos="49091">
              <a:schemeClr val="accent2"/>
            </a:gs>
            <a:gs pos="56364">
              <a:schemeClr val="accent2"/>
            </a:gs>
            <a:gs pos="56364">
              <a:schemeClr val="accent3"/>
            </a:gs>
            <a:gs pos="63636">
              <a:schemeClr val="accent3"/>
            </a:gs>
            <a:gs pos="63636">
              <a:schemeClr val="accent4"/>
            </a:gs>
            <a:gs pos="70909">
              <a:schemeClr val="accent4"/>
            </a:gs>
            <a:gs pos="70909">
              <a:schemeClr val="accent5"/>
            </a:gs>
            <a:gs pos="78182">
              <a:schemeClr val="accent5"/>
            </a:gs>
            <a:gs pos="78182">
              <a:schemeClr val="accent6"/>
            </a:gs>
            <a:gs pos="85455">
              <a:schemeClr val="accent6"/>
            </a:gs>
            <a:gs pos="85455">
              <a:schemeClr val="hlink"/>
            </a:gs>
            <a:gs pos="92727">
              <a:schemeClr val="hlink"/>
            </a:gs>
            <a:gs pos="92727">
              <a:schemeClr val="folHlink"/>
            </a:gs>
            <a:gs pos="100000">
              <a:schemeClr val="folHlink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lt1"/>
                </a:solidFill>
              </a:defRPr>
            </a:pPr>
            <a:r>
              <a:rPr>
                <a:solidFill>
                  <a:schemeClr val="lt1"/>
                </a:solidFill>
              </a:rPr>
              <a:t>Every PowerPoint theme color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Feature examples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Each slide after this one isolates a single </a:t>
            </a:r>
            <a:r>
              <a:rPr b="0" i="0">
                <a:solidFill>
                  <a:schemeClr val="dk1"/>
                </a:solidFill>
                <a:latin typeface="Consolas"/>
              </a:rPr>
              <a:t>markdown-pptx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feature.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Title Slide layout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slide uses the Title Slide layout.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Section Header layout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slide uses the Section Header layout.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Title and Content layout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slide explicitly uses master 1 and its Title and Content layout.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Title Only layout</a:t>
            </a:r>
            <a:endParaRPr>
              <a:solidFill>
                <a:schemeClr val="accent6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Body text with hyperlinks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Consolas"/>
              </a:rPr>
              <a:t>markdown-pptx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can include links in normal body text, such as the 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  <a:hlinkClick r:id="rId2"/>
              </a:rPr>
              <a:t>project repository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and the 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  <a:hlinkClick r:id="rId3"/>
              </a:rPr>
              <a:t>python-pptx documentation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Inline text styling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Normal text can mix </a:t>
            </a:r>
            <a:r>
              <a:rPr b="1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strong with </a:t>
            </a:r>
            <a:r>
              <a:rPr b="1" i="1">
                <a:solidFill>
                  <a:schemeClr val="dk1"/>
                </a:solidFill>
                <a:latin typeface="+mn-lt"/>
                <a:ea typeface="+mn-ea"/>
                <a:cs typeface="+mn-cs"/>
              </a:rPr>
              <a:t>nested italic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</a:t>
            </a:r>
            <a:r>
              <a:rPr b="0" i="1">
                <a:solidFill>
                  <a:schemeClr val="dk1"/>
                </a:solidFill>
                <a:latin typeface="+mn-lt"/>
                <a:ea typeface="+mn-ea"/>
                <a:cs typeface="+mn-cs"/>
              </a:rPr>
              <a:t>italic emphasis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</a:t>
            </a:r>
            <a:r>
              <a:rPr b="0" i="0">
                <a:solidFill>
                  <a:schemeClr val="dk1"/>
                </a:solidFill>
                <a:latin typeface="Consolas"/>
              </a:rPr>
              <a:t>inline code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</a:t>
            </a:r>
            <a:r>
              <a:rPr b="0" i="0" strike="sngStrike">
                <a:solidFill>
                  <a:schemeClr val="dk1"/>
                </a:solidFill>
                <a:latin typeface="+mn-lt"/>
                <a:ea typeface="+mn-ea"/>
                <a:cs typeface="+mn-cs"/>
              </a:rPr>
              <a:t>deleted text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H</a:t>
            </a:r>
            <a:r>
              <a:rPr b="0" i="0" baseline="-25000" sz="2000">
                <a:solidFill>
                  <a:schemeClr val="dk1"/>
                </a:solidFill>
                <a:latin typeface="+mn-lt"/>
                <a:ea typeface="+mn-ea"/>
                <a:cs typeface="+mn-cs"/>
              </a:rPr>
              <a:t>2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O, x</a:t>
            </a:r>
            <a:r>
              <a:rPr b="0" i="0" baseline="30000" sz="2000">
                <a:solidFill>
                  <a:schemeClr val="dk1"/>
                </a:solidFill>
                <a:latin typeface="+mn-lt"/>
                <a:ea typeface="+mn-ea"/>
                <a:cs typeface="+mn-cs"/>
              </a:rPr>
              <a:t>2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and </a:t>
            </a:r>
            <a:r>
              <a:rPr b="1" i="0">
                <a:solidFill>
                  <a:schemeClr val="dk1"/>
                </a:solidFill>
                <a:latin typeface="+mn-lt"/>
                <a:ea typeface="+mn-ea"/>
                <a:cs typeface="+mn-cs"/>
                <a:hlinkClick r:id="rId2"/>
              </a:rPr>
              <a:t>formatted links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in the same editable placeholder.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Line breaks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source line wraps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without forcing a visual break.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line ends here.</a:t>
            </a:r>
            <a:br/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The next line stays in the same paragraph.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H2 through H6 headings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3700" b="1" i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H2 heading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3400" b="1" i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H3 heading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3100" b="1" i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H4 heading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2900" b="1" i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H5 heading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2800" b="1" i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H6 heading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3700" b="1" i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Setext H2 heading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Setext H1 slide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An H1 underline can start a slide without an ATX marker.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Bulleted list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Write a readable Markdown deck</a:t>
            </a:r>
            <a:endParaRPr>
              <a:solidFill>
                <a:schemeClr val="dk1"/>
              </a:solidFill>
            </a:endParaRPr>
          </a:p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Choose a template if needed</a:t>
            </a:r>
            <a:endParaRPr>
              <a:solidFill>
                <a:schemeClr val="dk1"/>
              </a:solidFill>
            </a:endParaRPr>
          </a:p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Render an editable PowerPoint file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Nested lists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Inspect the template</a:t>
            </a:r>
            <a:endParaRPr>
              <a:solidFill>
                <a:schemeClr val="dk1"/>
              </a:solidFill>
            </a:endParaRPr>
          </a:p>
          <a:p>
            <a:pPr lvl="1" marL="82296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Select a master</a:t>
            </a:r>
            <a:endParaRPr>
              <a:solidFill>
                <a:schemeClr val="dk1"/>
              </a:solidFill>
            </a:endParaRPr>
          </a:p>
          <a:p>
            <a:pPr lvl="2" marL="123444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Choose a compatible layout</a:t>
            </a:r>
            <a:endParaRPr>
              <a:solidFill>
                <a:schemeClr val="dk1"/>
              </a:solidFill>
            </a:endParaRPr>
          </a:p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Write the Markdown</a:t>
            </a:r>
            <a:endParaRPr>
              <a:solidFill>
                <a:schemeClr val="dk1"/>
              </a:solidFill>
            </a:endParaRPr>
          </a:p>
          <a:p>
            <a:pPr lvl="1" marL="82296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Keep each slide focused</a:t>
            </a:r>
            <a:endParaRPr>
              <a:solidFill>
                <a:schemeClr val="dk1"/>
              </a:solidFill>
            </a:endParaRPr>
          </a:p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Render and review the PowerPoint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Numbered list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576072" indent="-365760">
              <a:buAutoNum type="arabicPeriod" startAt="1"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Write the markdown source</a:t>
            </a:r>
            <a:endParaRPr>
              <a:solidFill>
                <a:schemeClr val="dk1"/>
              </a:solidFill>
            </a:endParaRPr>
          </a:p>
          <a:p>
            <a:pPr marL="576072" indent="-365760">
              <a:buAutoNum type="arabicPeriod" startAt="2"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Run the CLI</a:t>
            </a:r>
            <a:endParaRPr>
              <a:solidFill>
                <a:schemeClr val="dk1"/>
              </a:solidFill>
            </a:endParaRPr>
          </a:p>
          <a:p>
            <a:pPr marL="576072" indent="-365760">
              <a:buAutoNum type="arabicPeriod" startAt="3"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Open the generated </a:t>
            </a:r>
            <a:r>
              <a:rPr b="0" i="0">
                <a:solidFill>
                  <a:schemeClr val="dk1"/>
                </a:solidFill>
                <a:latin typeface="Consolas"/>
              </a:rPr>
              <a:t>.pptx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Task lists and continuations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☑ 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Create the editable deck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☐ 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Review the slides</a:t>
            </a:r>
            <a:endParaRPr>
              <a:solidFill>
                <a:schemeClr val="dk1"/>
              </a:solidFill>
            </a:endParaRPr>
          </a:p>
          <a:p>
            <a:pPr marL="576072" indent="-365760">
              <a:buAutoNum type="arabicPeriod" startAt="1"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Begin with a numbered item</a:t>
            </a:r>
            <a:endParaRPr>
              <a:solidFill>
                <a:schemeClr val="dk1"/>
              </a:solidFill>
            </a:endParaRPr>
          </a:p>
          <a:p>
            <a:pPr marL="576072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Continue its explanation without another number.</a:t>
            </a:r>
            <a:endParaRPr>
              <a:solidFill>
                <a:schemeClr val="dk1"/>
              </a:solidFill>
            </a:endParaRPr>
          </a:p>
          <a:p>
            <a:pPr marL="576072" indent="-365760">
              <a:buAutoNum type="arabicPeriod" startAt="2"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Finish the sequence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Pipe table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MarkdownSlidesTable"/>
          <p:cNvGraphicFramePr>
            <a:graphicFrameLocks noGrp="1"/>
          </p:cNvGraphicFramePr>
          <p:nvPr/>
        </p:nvGraphicFramePr>
        <p:xfrm>
          <a:off x="838200" y="1825625"/>
          <a:ext cx="10515600" cy="4351338"/>
        </p:xfrm>
        <a:graphic>
          <a:graphicData uri="http://schemas.openxmlformats.org/drawingml/2006/table">
            <a:tbl>
              <a:tblPr firstRow="1" bandRow="1" lastRow="1" firstCol="1" lastCol="1" bandCol="1">
                <a:tableStyleId>{B301B821-A1FF-4177-AEE7-76D212191A09}</a:tableStyleId>
              </a:tblPr>
              <a:tblGrid>
                <a:gridCol w="5257800"/>
                <a:gridCol w="5257800"/>
              </a:tblGrid>
              <a:tr h="725223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Markdown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PowerPoint result</a:t>
                      </a:r>
                    </a:p>
                  </a:txBody>
                  <a:tcPr/>
                </a:tc>
              </a:tr>
              <a:tr h="725223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# H1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New slide</a:t>
                      </a:r>
                    </a:p>
                  </a:txBody>
                  <a:tcPr/>
                </a:tc>
              </a:tr>
              <a:tr h="725223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layout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Real slide layout</a:t>
                      </a:r>
                    </a:p>
                  </a:txBody>
                  <a:tcPr/>
                </a:tc>
              </a:tr>
              <a:tr h="725223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Master-specific layout group</a:t>
                      </a:r>
                    </a:p>
                  </a:txBody>
                  <a:tcPr/>
                </a:tc>
              </a:tr>
              <a:tr h="725223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notes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Editable speaker notes</a:t>
                      </a:r>
                    </a:p>
                  </a:txBody>
                  <a:tcPr/>
                </a:tc>
              </a:tr>
              <a:tr h="725223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All six native table-style flags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Blockquote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274320" indent="0">
              <a:spcBef>
                <a:spcPts val="600"/>
              </a:spcBef>
              <a:spcAft>
                <a:spcPts val="600"/>
              </a:spcAft>
              <a:buNone/>
            </a:pPr>
            <a:r>
              <a:rPr b="0" i="1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markdown-pptx keeps the source format simple enough to read directly while still producing a real presentation.</a:t>
            </a:r>
          </a:p>
          <a:p>
            <a:pPr marL="685800" indent="-201168">
              <a:spcBef>
                <a:spcPts val="600"/>
              </a:spcBef>
              <a:spcAft>
                <a:spcPts val="600"/>
              </a:spcAft>
            </a:pPr>
            <a:r>
              <a:rPr b="0" i="1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Quoted lists keep their bullets.</a:t>
            </a:r>
          </a:p>
          <a:p>
            <a:pPr marL="274320" indent="0">
              <a:spcBef>
                <a:spcPts val="600"/>
              </a:spcBef>
              <a:spcAft>
                <a:spcPts val="600"/>
              </a:spcAft>
              <a:buNone/>
            </a:pPr>
            <a:r>
              <a:t/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Code block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Consolas"/>
              </a:rPr>
              <a:t>uvx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markdown</a:t>
            </a:r>
            <a:r>
              <a:rPr b="0" i="0">
                <a:solidFill>
                  <a:schemeClr val="dk1"/>
                </a:solidFill>
                <a:latin typeface="Consolas"/>
              </a:rPr>
              <a:t>-pptx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sample</a:t>
            </a:r>
            <a:r>
              <a:rPr b="0" i="0">
                <a:solidFill>
                  <a:schemeClr val="dk1"/>
                </a:solidFill>
                <a:latin typeface="Consolas"/>
              </a:rPr>
              <a:t>/</a:t>
            </a:r>
            <a:r>
              <a:rPr b="0" i="0">
                <a:solidFill>
                  <a:schemeClr val="dk1"/>
                </a:solidFill>
                <a:latin typeface="Consolas"/>
              </a:rPr>
              <a:t>showcase</a:t>
            </a:r>
            <a:r>
              <a:rPr b="0" i="0">
                <a:solidFill>
                  <a:schemeClr val="dk1"/>
                </a:solidFill>
                <a:latin typeface="Consolas"/>
              </a:rPr>
              <a:t>.</a:t>
            </a:r>
            <a:r>
              <a:rPr b="0" i="0">
                <a:solidFill>
                  <a:srgbClr val="008000"/>
                </a:solidFill>
                <a:latin typeface="Consolas"/>
              </a:rPr>
              <a:t>md </a:t>
            </a:r>
            <a:r>
              <a:rPr b="0" i="0">
                <a:solidFill>
                  <a:schemeClr val="dk1"/>
                </a:solidFill>
                <a:latin typeface="Consolas"/>
              </a:rPr>
              <a:t>sample</a:t>
            </a:r>
            <a:r>
              <a:rPr b="0" i="0">
                <a:solidFill>
                  <a:schemeClr val="dk1"/>
                </a:solidFill>
                <a:latin typeface="Consolas"/>
              </a:rPr>
              <a:t>/</a:t>
            </a:r>
            <a:r>
              <a:rPr b="0" i="0">
                <a:solidFill>
                  <a:schemeClr val="dk1"/>
                </a:solidFill>
                <a:latin typeface="Consolas"/>
              </a:rPr>
              <a:t>showcase</a:t>
            </a:r>
            <a:r>
              <a:rPr b="0" i="0">
                <a:solidFill>
                  <a:schemeClr val="dk1"/>
                </a:solidFill>
                <a:latin typeface="Consolas"/>
              </a:rPr>
              <a:t>.</a:t>
            </a:r>
            <a:r>
              <a:rPr b="0" i="0">
                <a:solidFill>
                  <a:schemeClr val="dk1"/>
                </a:solidFill>
                <a:latin typeface="Consolas"/>
              </a:rPr>
              <a:t>pptx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-</a:t>
            </a:r>
            <a:r>
              <a:rPr b="0" i="0">
                <a:solidFill>
                  <a:schemeClr val="dk1"/>
                </a:solidFill>
                <a:latin typeface="Consolas"/>
              </a:rPr>
              <a:t>-template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sample</a:t>
            </a:r>
            <a:r>
              <a:rPr b="0" i="0">
                <a:solidFill>
                  <a:schemeClr val="dk1"/>
                </a:solidFill>
                <a:latin typeface="Consolas"/>
              </a:rPr>
              <a:t>/</a:t>
            </a:r>
            <a:r>
              <a:rPr b="0" i="0">
                <a:solidFill>
                  <a:schemeClr val="dk1"/>
                </a:solidFill>
                <a:latin typeface="Consolas"/>
              </a:rPr>
              <a:t>showcase</a:t>
            </a:r>
            <a:r>
              <a:rPr b="0" i="0">
                <a:solidFill>
                  <a:schemeClr val="dk1"/>
                </a:solidFill>
                <a:latin typeface="Consolas"/>
              </a:rPr>
              <a:t>-template</a:t>
            </a:r>
            <a:r>
              <a:rPr b="0" i="0">
                <a:solidFill>
                  <a:schemeClr val="dk1"/>
                </a:solidFill>
                <a:latin typeface="Consolas"/>
              </a:rPr>
              <a:t>.</a:t>
            </a:r>
            <a:r>
              <a:rPr b="0" i="0">
                <a:solidFill>
                  <a:schemeClr val="dk1"/>
                </a:solidFill>
                <a:latin typeface="Consolas"/>
              </a:rPr>
              <a:t>pptx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-</a:t>
            </a:r>
            <a:r>
              <a:rPr b="0" i="0">
                <a:solidFill>
                  <a:schemeClr val="dk1"/>
                </a:solidFill>
                <a:latin typeface="Consolas"/>
              </a:rPr>
              <a:t>-force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Local image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MarkdownSlidesImage" descr="Local markdown-pptx sample image" title="Showcase image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144" y="1825625"/>
            <a:ext cx="7735712" cy="435133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Remote image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MarkdownSlidesImage" descr="Remote Python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0331" y="1825625"/>
            <a:ext cx="4351338" cy="435133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Background color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slide uses a solid slide background color.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Transparent background and hidden master graphics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slide removes its slide-level fill and hides the orange accent graphic inherited from the alternate master.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MarkdownSlidesBackgroundImage" descr="showcase-lo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2"/>
            </a:gs>
            <a:gs pos="48000">
              <a:schemeClr val="accent3"/>
            </a:gs>
            <a:gs pos="100000">
              <a:schemeClr val="accent4"/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Linear gradient background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slide uses a three-stop linear gradient background.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2"/>
            </a:gs>
            <a:gs pos="58000">
              <a:schemeClr val="accent4"/>
            </a:gs>
            <a:gs pos="100000">
              <a:schemeClr val="lt1"/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Radial gradient background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slide uses a radial gradient background.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1"/>
            </a:gs>
            <a:gs pos="100000">
              <a:schemeClr val="accent4"/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lt1"/>
                </a:solidFill>
              </a:defRPr>
            </a:pPr>
            <a:r>
              <a:rPr>
                <a:solidFill>
                  <a:schemeClr val="lt1"/>
                </a:solidFill>
              </a:rPr>
              <a:t>Slide colors override document colors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lt1"/>
                </a:solidFill>
              </a:defRPr>
            </a:pPr>
            <a:r>
              <a:rPr b="0" i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This slide overrides the document-level title and body colors.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Markdown in. Editable PowerPoint out.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Run </a:t>
            </a:r>
            <a:r>
              <a:rPr b="0" i="0">
                <a:solidFill>
                  <a:schemeClr val="dk1"/>
                </a:solidFill>
                <a:latin typeface="Consolas"/>
              </a:rPr>
              <a:t>uvx markdown-pptx --help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get started.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2026-08-31T21:00:12.9780000Z</dcterms:created>
  <dcterms:modified xsi:type="dcterms:W3CDTF">2026-08-31T21:00:12.9780000Z</dcterms:modified>
</coreProperties>
</file>