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5"/>
    <p:sldId id="258" r:id="rId4"/>
    <p:sldId id="259" r:id="rId3"/>
    <p:sldId id="260" r:id="rId2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18F045-DADE-49A8-832A-D11FD861333D}" v="4" dt="2026-04-21T00:56:50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Ellis" userId="ca23b53402098f5d" providerId="LiveId" clId="{C22253AC-51E4-4FFF-AED1-73FD0FCB3816}"/>
    <pc:docChg chg="modSld">
      <pc:chgData name="Paul Ellis" userId="ca23b53402098f5d" providerId="LiveId" clId="{C22253AC-51E4-4FFF-AED1-73FD0FCB3816}" dt="2026-04-21T00:56:50.081" v="3"/>
      <pc:docMkLst>
        <pc:docMk/>
      </pc:docMkLst>
      <pc:sldChg chg="setBg">
        <pc:chgData name="Paul Ellis" userId="ca23b53402098f5d" providerId="LiveId" clId="{C22253AC-51E4-4FFF-AED1-73FD0FCB3816}" dt="2026-04-21T00:56:50.081" v="3"/>
        <pc:sldMkLst>
          <pc:docMk/>
          <pc:sldMk cId="2493188051" sldId="25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34714B-36C0-4F55-B631-095697B05A1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6CCCC-FE4E-4EBC-950A-C6FE45FB0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89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EFC93-8786-03A5-FF46-60AC373CF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C48827-FAFE-757E-1BDE-A06E4510EB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3809F-6FD5-1B03-1567-1763DC11F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7771-9D5A-4D61-8C66-60C88DB26C7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BC750-76C4-37C3-4C64-87D13E5FC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CEC4E-AFC9-D7F0-CE75-B4633A0D3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7E326-E539-492D-9221-BBF0DE375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693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B371E-C732-84F9-BD3D-F382350F6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99C3E-757B-E19D-4285-78E92C345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96C4F-1DE2-3AA4-9C9B-C75122B0B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7771-9D5A-4D61-8C66-60C88DB26C7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30F03-70A8-65F8-0B28-472538E32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5102F-77D2-EA7A-2828-55575C441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7E326-E539-492D-9221-BBF0DE375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60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6A4C5-25EB-9DBF-9AE7-B4B50751A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4BB36-C20B-2A12-776D-B8CF328A3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C8ECC-F7D5-73A7-B8E3-B1A0CA7D4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7771-9D5A-4D61-8C66-60C88DB26C7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E49D5-1C9F-8D40-CCB4-B471C952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6321D-21FC-FE13-115B-7AF14C020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7E326-E539-492D-9221-BBF0DE375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66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57A5E-A34A-0C04-152E-1448113EB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2B90F-81A0-2A83-4F7C-F1C9B579C5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C1E1D5-7ED1-2D69-071E-F87266FD0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40E98-9414-6423-290B-4D393029B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7771-9D5A-4D61-8C66-60C88DB26C7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492CC8-1E8A-086B-88FB-AE86F243C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7E5F9-26DA-4072-D5BB-1084A6A1C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7E326-E539-492D-9221-BBF0DE375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540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AB7B-46DD-FE93-9C9D-1D30555FC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AD5FF-026E-DD96-F130-348C21A5C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6DF69-2038-8BD6-CA4A-1E3BBE6756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9318A0-C4ED-7F91-CD79-9089D088AC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71C1DB-9CB8-2692-9782-82569302F6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DC32B4-BF9C-89B5-296C-7F0E74347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7771-9D5A-4D61-8C66-60C88DB26C7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D5AFAD-62FA-AD1A-1E97-95C982D7B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730FC9-1B0B-E421-D011-9201EAE2A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7E326-E539-492D-9221-BBF0DE375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872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9C342-6914-9E17-B798-8659872DD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670CD-E95D-72AB-A97F-908471A0E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7771-9D5A-4D61-8C66-60C88DB26C7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D6C3B5-CB93-F497-CA2F-F03AC985F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D53CC-6E53-168F-C009-49EEC83EB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7E326-E539-492D-9221-BBF0DE375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043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B72EB3-4F17-5706-8B26-3235B26BC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7771-9D5A-4D61-8C66-60C88DB26C7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33266D-F165-6DB3-9C5A-DF0901DD0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4B781-F948-D676-3548-31D67D40A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7E326-E539-492D-9221-BBF0DE375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24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81042-B979-E1A9-7DFA-48CA53E74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40C8C-D4A7-4F29-E296-5BE456BA5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933AD6-C50B-8360-04D8-6DDA04E93E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7AC5C1-0FE0-4F70-8F57-4DF471E1A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7771-9D5A-4D61-8C66-60C88DB26C7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02485-1CFA-0B33-3618-9AED445BB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209CB3-0932-74FD-8F06-528D05A9E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7E326-E539-492D-9221-BBF0DE375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221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C83F8-CEC4-7941-A0F9-844FA1612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214E2B-0179-1A01-582B-EFB5BB37A7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D0B335-F7A1-F1F0-3588-8E5344EE66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C83E5-7ABA-5071-C4FF-CCD884099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7771-9D5A-4D61-8C66-60C88DB26C7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6AAE3-E4A3-7AB6-0605-B74031B07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F5FC47-A572-8EC0-82F2-A82C8B53A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7E326-E539-492D-9221-BBF0DE375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282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A80E8-FA40-761C-C204-D27DAF2EC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587A76-E4B7-7F94-F8FF-CB53E8CB5D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732A7-9B99-C553-881C-884C1E072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7771-9D5A-4D61-8C66-60C88DB26C7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AB7C5-17F0-6DCA-7C9A-A80259CB2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021F4-82F6-6D70-16D1-DB8A5BF9A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7E326-E539-492D-9221-BBF0DE375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611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CFCB39-CC34-1B9C-6E89-D8EB45AC9E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78CF9-71D7-F3A2-6409-2117C055BA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7D1AE-0E61-EBCA-F251-4E08C554A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7771-9D5A-4D61-8C66-60C88DB26C7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61B56-D627-359F-ADE6-41AC5763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BA388-298F-82D3-1EDB-F9D8764A7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7E326-E539-492D-9221-BBF0DE375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9308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CBAE84-EA4C-C8F8-3709-EDD14D1F5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4B1F3-85AD-9F78-4219-27AB7B47A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9BC02-5FD5-5699-6FDA-44B4FBD1DE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0A7771-9D5A-4D61-8C66-60C88DB26C7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16B89-3F62-F24C-2EE3-C5284C7EAB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17629-D3CC-42DF-0750-5B632BDCD4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87E326-E539-492D-9221-BBF0DE375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323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pseudosavant/markdown-pptx" TargetMode="External"/><Relationship Id="rId3" Type="http://schemas.openxmlformats.org/officeDocument/2006/relationships/hyperlink" Target="https://python-pptx.readthedocs.io/en/latest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pseudosavant/markdown-pptx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github.com/pseudosavant/markdown-pptx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video" Target="https://www.youtube.com/embed/aqz-KE-bpKQ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pseudosavant/markdown-pptx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pseudosavant/markdown-pptx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pseudosavant/markdown-pptx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github.com/pseudosavant/markdown-pptx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pseudosavant/markdown-pptx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pseudosavant/markdown-pptx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Default showcase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>
                <a:solidFill>
                  <a:schemeClr val="dk1"/>
                </a:solidFill>
              </a:rPr>
              <a:t>Vanilla Markdown becomes editable PowerPoint.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Markdown without metadata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This source has no markdown-pptx metadata. Ordinary content slides use Title and Content.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A title with an optional H2 subtitle infers the title layout first and section layouts later.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Markdown chooses two content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</a:pPr>
            <a:r>
              <a:rPr sz="3700" b="1" i="0">
                <a:latin typeface="+mj-lt"/>
                <a:ea typeface="+mj-ea"/>
                <a:cs typeface="+mj-cs"/>
              </a:rPr>
              <a:t>Left content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One top-level horizontal rule selects Two Content.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</a:pPr>
            <a:r>
              <a:rPr sz="3700" b="1" i="0">
                <a:latin typeface="+mj-lt"/>
                <a:ea typeface="+mj-ea"/>
                <a:cs typeface="+mj-cs"/>
              </a:rPr>
              <a:t>Right content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Each side can contain text, an image, a table, or a video.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What markdown-pptx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Consolas"/>
              </a:rPr>
              <a:t>markdown-pptx</a:t>
            </a:r>
            <a:r>
              <a:rPr b="0" i="0">
                <a:latin typeface="+mn-lt"/>
                <a:ea typeface="+mn-ea"/>
                <a:cs typeface="+mn-cs"/>
              </a:rPr>
              <a:t> converts constrained Markdown slide decks into editable PowerPoint </a:t>
            </a:r>
            <a:r>
              <a:rPr b="0" i="0">
                <a:latin typeface="Consolas"/>
              </a:rPr>
              <a:t>.pptx</a:t>
            </a:r>
            <a:r>
              <a:rPr b="0" i="0">
                <a:latin typeface="+mn-lt"/>
                <a:ea typeface="+mn-ea"/>
                <a:cs typeface="+mn-cs"/>
              </a:rPr>
              <a:t> presentations.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It uses real PowerPoint layouts and placeholders, so the output stays easy to edit in PowerPoint instead of becoming a pile of free-positioned text boxes.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Basic CLI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Run </a:t>
            </a:r>
            <a:r>
              <a:rPr b="0" i="0">
                <a:latin typeface="Consolas"/>
              </a:rPr>
              <a:t>uvx markdown-pptx deck.md</a:t>
            </a:r>
            <a:r>
              <a:rPr b="0" i="0">
                <a:latin typeface="+mn-lt"/>
                <a:ea typeface="+mn-ea"/>
                <a:cs typeface="+mn-cs"/>
              </a:rPr>
              <a:t> to write </a:t>
            </a:r>
            <a:r>
              <a:rPr b="0" i="0">
                <a:latin typeface="Consolas"/>
              </a:rPr>
              <a:t>deck.pptx</a:t>
            </a:r>
            <a:r>
              <a:rPr b="0" i="0">
                <a:latin typeface="+mn-lt"/>
                <a:ea typeface="+mn-ea"/>
                <a:cs typeface="+mn-cs"/>
              </a:rPr>
              <a:t> next to the source markdown file.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Use </a:t>
            </a:r>
            <a:r>
              <a:rPr b="0" i="0">
                <a:latin typeface="Consolas"/>
              </a:rPr>
              <a:t>uvx markdown-pptx deck.md out.pptx</a:t>
            </a:r>
            <a:r>
              <a:rPr b="0" i="0">
                <a:latin typeface="+mn-lt"/>
                <a:ea typeface="+mn-ea"/>
                <a:cs typeface="+mn-cs"/>
              </a:rPr>
              <a:t> to choose the output path, </a:t>
            </a:r>
            <a:r>
              <a:rPr b="0" i="0">
                <a:latin typeface="Consolas"/>
              </a:rPr>
              <a:t>--template theme.pptx</a:t>
            </a:r>
            <a:r>
              <a:rPr b="0" i="0">
                <a:latin typeface="+mn-lt"/>
                <a:ea typeface="+mn-ea"/>
                <a:cs typeface="+mn-cs"/>
              </a:rPr>
              <a:t> to render against an existing PowerPoint template, and </a:t>
            </a:r>
            <a:r>
              <a:rPr b="0" i="0">
                <a:latin typeface="Consolas"/>
              </a:rPr>
              <a:t>--force</a:t>
            </a:r>
            <a:r>
              <a:rPr b="0" i="0">
                <a:latin typeface="+mn-lt"/>
                <a:ea typeface="+mn-ea"/>
                <a:cs typeface="+mn-cs"/>
              </a:rPr>
              <a:t> to overwrite an existing file.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Run </a:t>
            </a:r>
            <a:r>
              <a:rPr b="0" i="0">
                <a:latin typeface="Consolas"/>
              </a:rPr>
              <a:t>uvx markdown-pptx</a:t>
            </a:r>
            <a:r>
              <a:rPr b="0" i="0">
                <a:latin typeface="+mn-lt"/>
                <a:ea typeface="+mn-ea"/>
                <a:cs typeface="+mn-cs"/>
              </a:rPr>
              <a:t> with no arguments for the quick reference or use </a:t>
            </a:r>
            <a:r>
              <a:rPr b="0" i="0">
                <a:latin typeface="Consolas"/>
              </a:rPr>
              <a:t>--about</a:t>
            </a:r>
            <a:r>
              <a:rPr b="0" i="0">
                <a:latin typeface="+mn-lt"/>
                <a:ea typeface="+mn-ea"/>
                <a:cs typeface="+mn-cs"/>
              </a:rPr>
              <a:t> for project metadata.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Body text with hyperlinks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Consolas"/>
              </a:rPr>
              <a:t>markdown-pptx</a:t>
            </a:r>
            <a:r>
              <a:rPr b="0" i="0">
                <a:latin typeface="+mn-lt"/>
                <a:ea typeface="+mn-ea"/>
                <a:cs typeface="+mn-cs"/>
              </a:rPr>
              <a:t> can include links in normal body text, such as the </a:t>
            </a:r>
            <a:r>
              <a:rPr b="0" i="0">
                <a:latin typeface="+mn-lt"/>
                <a:ea typeface="+mn-ea"/>
                <a:cs typeface="+mn-cs"/>
                <a:hlinkClick r:id="rId2"/>
              </a:rPr>
              <a:t>project repository</a:t>
            </a:r>
            <a:r>
              <a:rPr b="0" i="0">
                <a:latin typeface="+mn-lt"/>
                <a:ea typeface="+mn-ea"/>
                <a:cs typeface="+mn-cs"/>
              </a:rPr>
              <a:t> and the </a:t>
            </a:r>
            <a:r>
              <a:rPr b="0" i="0">
                <a:latin typeface="+mn-lt"/>
                <a:ea typeface="+mn-ea"/>
                <a:cs typeface="+mn-cs"/>
                <a:hlinkClick r:id="rId3"/>
              </a:rPr>
              <a:t>python-pptx documentation</a:t>
            </a:r>
            <a:r>
              <a:rPr b="0" i="0">
                <a:latin typeface="+mn-lt"/>
                <a:ea typeface="+mn-ea"/>
                <a:cs typeface="+mn-cs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Inline text styling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Normal text can mix </a:t>
            </a:r>
            <a:r>
              <a:rPr b="1" i="0">
                <a:latin typeface="+mn-lt"/>
                <a:ea typeface="+mn-ea"/>
                <a:cs typeface="+mn-cs"/>
              </a:rPr>
              <a:t>strong with </a:t>
            </a:r>
            <a:r>
              <a:rPr b="1" i="1">
                <a:latin typeface="+mn-lt"/>
                <a:ea typeface="+mn-ea"/>
                <a:cs typeface="+mn-cs"/>
              </a:rPr>
              <a:t>nested italic</a:t>
            </a:r>
            <a:r>
              <a:rPr b="0" i="0">
                <a:latin typeface="+mn-lt"/>
                <a:ea typeface="+mn-ea"/>
                <a:cs typeface="+mn-cs"/>
              </a:rPr>
              <a:t>, </a:t>
            </a:r>
            <a:r>
              <a:rPr b="0" i="1">
                <a:latin typeface="+mn-lt"/>
                <a:ea typeface="+mn-ea"/>
                <a:cs typeface="+mn-cs"/>
              </a:rPr>
              <a:t>italic emphasis</a:t>
            </a:r>
            <a:r>
              <a:rPr b="0" i="0">
                <a:latin typeface="+mn-lt"/>
                <a:ea typeface="+mn-ea"/>
                <a:cs typeface="+mn-cs"/>
              </a:rPr>
              <a:t>, </a:t>
            </a:r>
            <a:r>
              <a:rPr b="0" i="0">
                <a:latin typeface="Consolas"/>
              </a:rPr>
              <a:t>inline code</a:t>
            </a:r>
            <a:r>
              <a:rPr b="0" i="0">
                <a:latin typeface="+mn-lt"/>
                <a:ea typeface="+mn-ea"/>
                <a:cs typeface="+mn-cs"/>
              </a:rPr>
              <a:t>, </a:t>
            </a:r>
            <a:r>
              <a:rPr b="0" i="0" strike="sngStrike">
                <a:latin typeface="+mn-lt"/>
                <a:ea typeface="+mn-ea"/>
                <a:cs typeface="+mn-cs"/>
              </a:rPr>
              <a:t>deleted text</a:t>
            </a:r>
            <a:r>
              <a:rPr b="0" i="0">
                <a:latin typeface="+mn-lt"/>
                <a:ea typeface="+mn-ea"/>
                <a:cs typeface="+mn-cs"/>
              </a:rPr>
              <a:t>, H</a:t>
            </a:r>
            <a:r>
              <a:rPr b="0" i="0" baseline="-25000" sz="2000">
                <a:latin typeface="+mn-lt"/>
                <a:ea typeface="+mn-ea"/>
                <a:cs typeface="+mn-cs"/>
              </a:rPr>
              <a:t>2</a:t>
            </a:r>
            <a:r>
              <a:rPr b="0" i="0">
                <a:latin typeface="+mn-lt"/>
                <a:ea typeface="+mn-ea"/>
                <a:cs typeface="+mn-cs"/>
              </a:rPr>
              <a:t>O, x</a:t>
            </a:r>
            <a:r>
              <a:rPr b="0" i="0" baseline="30000" sz="2000">
                <a:latin typeface="+mn-lt"/>
                <a:ea typeface="+mn-ea"/>
                <a:cs typeface="+mn-cs"/>
              </a:rPr>
              <a:t>2</a:t>
            </a:r>
            <a:r>
              <a:rPr b="0" i="0">
                <a:latin typeface="+mn-lt"/>
                <a:ea typeface="+mn-ea"/>
                <a:cs typeface="+mn-cs"/>
              </a:rPr>
              <a:t>, and </a:t>
            </a:r>
            <a:r>
              <a:rPr b="1" i="0">
                <a:latin typeface="+mn-lt"/>
                <a:ea typeface="+mn-ea"/>
                <a:cs typeface="+mn-cs"/>
                <a:hlinkClick r:id="rId2"/>
              </a:rPr>
              <a:t>formatted links</a:t>
            </a:r>
            <a:r>
              <a:rPr b="0" i="0">
                <a:latin typeface="+mn-lt"/>
                <a:ea typeface="+mn-ea"/>
                <a:cs typeface="+mn-cs"/>
              </a:rPr>
              <a:t> in the same editable placeholder.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Line breaks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This source line wraps</a:t>
            </a:r>
            <a:r>
              <a:rPr b="0" i="0">
                <a:latin typeface="+mn-lt"/>
                <a:ea typeface="+mn-ea"/>
                <a:cs typeface="+mn-cs"/>
              </a:rPr>
              <a:t> </a:t>
            </a:r>
            <a:r>
              <a:rPr b="0" i="0">
                <a:latin typeface="+mn-lt"/>
                <a:ea typeface="+mn-ea"/>
                <a:cs typeface="+mn-cs"/>
              </a:rPr>
              <a:t>without forcing a visual break.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This line ends here.</a:t>
            </a:r>
            <a:br/>
            <a:r>
              <a:rPr b="0" i="0">
                <a:latin typeface="+mn-lt"/>
                <a:ea typeface="+mn-ea"/>
                <a:cs typeface="+mn-cs"/>
              </a:rPr>
              <a:t>The next line stays in the same paragraph.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H2 through H6 headings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</a:pPr>
            <a:r>
              <a:rPr sz="3700" b="1" i="0">
                <a:latin typeface="+mj-lt"/>
                <a:ea typeface="+mj-ea"/>
                <a:cs typeface="+mj-cs"/>
              </a:rPr>
              <a:t>H2 heading</a:t>
            </a:r>
          </a:p>
          <a:p>
            <a:pPr marL="0" indent="0">
              <a:buNone/>
            </a:pPr>
            <a:r>
              <a:rPr sz="3400" b="1" i="0">
                <a:latin typeface="+mj-lt"/>
                <a:ea typeface="+mj-ea"/>
                <a:cs typeface="+mj-cs"/>
              </a:rPr>
              <a:t>H3 heading</a:t>
            </a:r>
          </a:p>
          <a:p>
            <a:pPr marL="0" indent="0">
              <a:buNone/>
            </a:pPr>
            <a:r>
              <a:rPr sz="3100" b="1" i="0">
                <a:latin typeface="+mj-lt"/>
                <a:ea typeface="+mj-ea"/>
                <a:cs typeface="+mj-cs"/>
              </a:rPr>
              <a:t>H4 heading</a:t>
            </a:r>
          </a:p>
          <a:p>
            <a:pPr marL="0" indent="0">
              <a:buNone/>
            </a:pPr>
            <a:r>
              <a:rPr sz="2900" b="1" i="0">
                <a:latin typeface="+mj-lt"/>
                <a:ea typeface="+mj-ea"/>
                <a:cs typeface="+mj-cs"/>
              </a:rPr>
              <a:t>H5 heading</a:t>
            </a:r>
          </a:p>
          <a:p>
            <a:pPr marL="0" indent="0">
              <a:buNone/>
            </a:pPr>
            <a:r>
              <a:rPr sz="2800" b="1" i="0">
                <a:latin typeface="+mj-lt"/>
                <a:ea typeface="+mj-ea"/>
                <a:cs typeface="+mj-cs"/>
              </a:rPr>
              <a:t>H6 heading</a:t>
            </a:r>
          </a:p>
          <a:p>
            <a:pPr marL="0" indent="0">
              <a:buNone/>
            </a:pPr>
            <a:r>
              <a:rPr sz="3700" b="1" i="0">
                <a:latin typeface="+mj-lt"/>
                <a:ea typeface="+mj-ea"/>
                <a:cs typeface="+mj-cs"/>
              </a:rPr>
              <a:t>Setext H2 heading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Setext H1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An H1 underline can start a slide without an ATX marker.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Bulleted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411480" indent="-201168"/>
            <a:r>
              <a:rPr b="0" i="0">
                <a:latin typeface="+mn-lt"/>
                <a:ea typeface="+mn-ea"/>
                <a:cs typeface="+mn-cs"/>
              </a:rPr>
              <a:t>Write a readable Markdown deck</a:t>
            </a:r>
          </a:p>
          <a:p>
            <a:pPr marL="411480" indent="-201168"/>
            <a:r>
              <a:rPr b="0" i="0">
                <a:latin typeface="+mn-lt"/>
                <a:ea typeface="+mn-ea"/>
                <a:cs typeface="+mn-cs"/>
              </a:rPr>
              <a:t>Choose a template if needed</a:t>
            </a:r>
          </a:p>
          <a:p>
            <a:pPr marL="411480" indent="-201168"/>
            <a:r>
              <a:rPr b="0" i="0">
                <a:latin typeface="+mn-lt"/>
                <a:ea typeface="+mn-ea"/>
                <a:cs typeface="+mn-cs"/>
              </a:rPr>
              <a:t>Render an editable PowerPoint file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Nested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411480" indent="-201168"/>
            <a:r>
              <a:rPr b="0" i="0">
                <a:latin typeface="+mn-lt"/>
                <a:ea typeface="+mn-ea"/>
                <a:cs typeface="+mn-cs"/>
              </a:rPr>
              <a:t>Inspect the template</a:t>
            </a:r>
          </a:p>
          <a:p>
            <a:pPr lvl="1" marL="822960" indent="-201168"/>
            <a:r>
              <a:rPr b="0" i="0">
                <a:latin typeface="+mn-lt"/>
                <a:ea typeface="+mn-ea"/>
                <a:cs typeface="+mn-cs"/>
              </a:rPr>
              <a:t>Select a master</a:t>
            </a:r>
          </a:p>
          <a:p>
            <a:pPr lvl="2" marL="1234440" indent="-201168"/>
            <a:r>
              <a:rPr b="0" i="0">
                <a:latin typeface="+mn-lt"/>
                <a:ea typeface="+mn-ea"/>
                <a:cs typeface="+mn-cs"/>
              </a:rPr>
              <a:t>Choose a compatible layout</a:t>
            </a:r>
          </a:p>
          <a:p>
            <a:pPr marL="411480" indent="-201168"/>
            <a:r>
              <a:rPr b="0" i="0">
                <a:latin typeface="+mn-lt"/>
                <a:ea typeface="+mn-ea"/>
                <a:cs typeface="+mn-cs"/>
              </a:rPr>
              <a:t>Write the Markdown</a:t>
            </a:r>
          </a:p>
          <a:p>
            <a:pPr lvl="1" marL="822960" indent="-201168"/>
            <a:r>
              <a:rPr b="0" i="0">
                <a:latin typeface="+mn-lt"/>
                <a:ea typeface="+mn-ea"/>
                <a:cs typeface="+mn-cs"/>
              </a:rPr>
              <a:t>Keep each slide focused</a:t>
            </a:r>
          </a:p>
          <a:p>
            <a:pPr marL="411480" indent="-201168"/>
            <a:r>
              <a:rPr b="0" i="0">
                <a:latin typeface="+mn-lt"/>
                <a:ea typeface="+mn-ea"/>
                <a:cs typeface="+mn-cs"/>
              </a:rPr>
              <a:t>Render and review the PowerPoint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Numbered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576072" indent="-365760">
              <a:buAutoNum type="arabicPeriod" startAt="1"/>
            </a:pPr>
            <a:r>
              <a:rPr b="0" i="0">
                <a:latin typeface="+mn-lt"/>
                <a:ea typeface="+mn-ea"/>
                <a:cs typeface="+mn-cs"/>
              </a:rPr>
              <a:t>Write the markdown source</a:t>
            </a:r>
          </a:p>
          <a:p>
            <a:pPr marL="576072" indent="-365760">
              <a:buAutoNum type="arabicPeriod" startAt="2"/>
            </a:pPr>
            <a:r>
              <a:rPr b="0" i="0">
                <a:latin typeface="+mn-lt"/>
                <a:ea typeface="+mn-ea"/>
                <a:cs typeface="+mn-cs"/>
              </a:rPr>
              <a:t>Run the CLI</a:t>
            </a:r>
          </a:p>
          <a:p>
            <a:pPr marL="576072" indent="-365760">
              <a:buAutoNum type="arabicPeriod" startAt="3"/>
            </a:pPr>
            <a:r>
              <a:rPr b="0" i="0">
                <a:latin typeface="+mn-lt"/>
                <a:ea typeface="+mn-ea"/>
                <a:cs typeface="+mn-cs"/>
              </a:rPr>
              <a:t>Open the generated </a:t>
            </a:r>
            <a:r>
              <a:rPr b="0" i="0">
                <a:latin typeface="Consolas"/>
              </a:rPr>
              <a:t>.pptx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Task lists and continuations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</a:pPr>
            <a:r>
              <a:rPr b="0" i="0">
                <a:latin typeface="+mn-lt"/>
                <a:ea typeface="+mn-ea"/>
                <a:cs typeface="+mn-cs"/>
              </a:rPr>
              <a:t>☑ </a:t>
            </a:r>
            <a:r>
              <a:rPr b="0" i="0">
                <a:latin typeface="+mn-lt"/>
                <a:ea typeface="+mn-ea"/>
                <a:cs typeface="+mn-cs"/>
              </a:rPr>
              <a:t>Create the editable deck</a:t>
            </a:r>
          </a:p>
          <a:p>
            <a:pPr marL="0" indent="0">
              <a:buNone/>
            </a:pPr>
            <a:r>
              <a:rPr b="0" i="0">
                <a:latin typeface="+mn-lt"/>
                <a:ea typeface="+mn-ea"/>
                <a:cs typeface="+mn-cs"/>
              </a:rPr>
              <a:t>☐ </a:t>
            </a:r>
            <a:r>
              <a:rPr b="0" i="0">
                <a:latin typeface="+mn-lt"/>
                <a:ea typeface="+mn-ea"/>
                <a:cs typeface="+mn-cs"/>
              </a:rPr>
              <a:t>Review the slides</a:t>
            </a:r>
          </a:p>
          <a:p>
            <a:pPr marL="576072" indent="-365760">
              <a:buAutoNum type="arabicPeriod" startAt="1"/>
            </a:pPr>
            <a:r>
              <a:rPr b="0" i="0">
                <a:latin typeface="+mn-lt"/>
                <a:ea typeface="+mn-ea"/>
                <a:cs typeface="+mn-cs"/>
              </a:rPr>
              <a:t>Begin with a numbered item</a:t>
            </a:r>
          </a:p>
          <a:p>
            <a:pPr marL="576072" indent="0">
              <a:buNone/>
            </a:pPr>
            <a:r>
              <a:rPr b="0" i="0">
                <a:latin typeface="+mn-lt"/>
                <a:ea typeface="+mn-ea"/>
                <a:cs typeface="+mn-cs"/>
              </a:rPr>
              <a:t>Continue its explanation without another number.</a:t>
            </a:r>
          </a:p>
          <a:p>
            <a:pPr marL="576072" indent="-365760">
              <a:buAutoNum type="arabicPeriod" startAt="2"/>
            </a:pPr>
            <a:r>
              <a:rPr b="0" i="0">
                <a:latin typeface="+mn-lt"/>
                <a:ea typeface="+mn-ea"/>
                <a:cs typeface="+mn-cs"/>
              </a:rPr>
              <a:t>Finish the sequence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Native table row sizing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Tables fill the content area's width. PowerPoint sizes each row to its content.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Short rows stay compact. Longer text wraps and makes its row taller. Cells are centered vertically and left aligned by default.</a:t>
            </a:r>
          </a:p>
        </p:txBody>
      </p:sp>
      <p:graphicFrame>
        <p:nvGraphicFramePr>
          <p:cNvPr id="5" name="MarkdownSlidesTable"/>
          <p:cNvGraphicFramePr>
            <a:graphicFrameLocks noGrp="1"/>
          </p:cNvGraphicFramePr>
          <p:nvPr>
            <p:ph idx="2" sz="half"/>
          </p:nvPr>
        </p:nvGraphicFramePr>
        <p:xfrm>
          <a:off x="6172200" y="1825625"/>
          <a:ext cx="5181600" cy="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590800"/>
                <a:gridCol w="2590800"/>
              </a:tblGrid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t>Item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t>Description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t>Short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t>A brief entry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t>Wrapped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t>This longer entry wraps onto several lines. PowerPoint grows this row to fit the content while keeping the shorter row compact.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Blockquote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274320" indent="0">
              <a:spcBef>
                <a:spcPts val="600"/>
              </a:spcBef>
              <a:spcAft>
                <a:spcPts val="600"/>
              </a:spcAft>
              <a:buNone/>
            </a:pPr>
            <a:r>
              <a:rPr b="0" i="1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markdown-pptx keeps the source format simple enough to read directly while still producing a real presentation.</a:t>
            </a:r>
          </a:p>
          <a:p>
            <a:pPr marL="685800" indent="-201168">
              <a:spcBef>
                <a:spcPts val="600"/>
              </a:spcBef>
              <a:spcAft>
                <a:spcPts val="600"/>
              </a:spcAft>
            </a:pPr>
            <a:r>
              <a:rPr b="0" i="1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Quoted lists keep their bullets.</a:t>
            </a:r>
          </a:p>
          <a:p>
            <a:pPr marL="274320" indent="0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Code block: PowerShell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</a:pPr>
            <a:r>
              <a:rPr b="0" i="0">
                <a:latin typeface="Consolas"/>
              </a:rPr>
              <a:t>uvx</a:t>
            </a:r>
            <a:r>
              <a:rPr b="0" i="0">
                <a:latin typeface="Consolas"/>
              </a:rPr>
              <a:t> </a:t>
            </a:r>
            <a:r>
              <a:rPr b="0" i="0">
                <a:latin typeface="Consolas"/>
              </a:rPr>
              <a:t>markdown</a:t>
            </a:r>
            <a:r>
              <a:rPr b="0" i="0">
                <a:latin typeface="Consolas"/>
              </a:rPr>
              <a:t>-pptx</a:t>
            </a:r>
            <a:r>
              <a:rPr b="0" i="0">
                <a:latin typeface="Consolas"/>
              </a:rPr>
              <a:t> </a:t>
            </a:r>
            <a:r>
              <a:rPr b="0" i="0">
                <a:latin typeface="Consolas"/>
              </a:rPr>
              <a:t>sample</a:t>
            </a:r>
            <a:r>
              <a:rPr b="0" i="0">
                <a:latin typeface="Consolas"/>
              </a:rPr>
              <a:t>/</a:t>
            </a:r>
            <a:r>
              <a:rPr b="1" i="0">
                <a:solidFill>
                  <a:srgbClr val="008000"/>
                </a:solidFill>
                <a:latin typeface="Consolas"/>
              </a:rPr>
              <a:t>default</a:t>
            </a:r>
            <a:r>
              <a:rPr b="0" i="0">
                <a:latin typeface="Consolas"/>
              </a:rPr>
              <a:t>-showcase</a:t>
            </a:r>
            <a:r>
              <a:rPr b="0" i="0">
                <a:latin typeface="Consolas"/>
              </a:rPr>
              <a:t>.</a:t>
            </a:r>
            <a:r>
              <a:rPr b="0" i="0">
                <a:solidFill>
                  <a:srgbClr val="008000"/>
                </a:solidFill>
                <a:latin typeface="Consolas"/>
              </a:rPr>
              <a:t>md </a:t>
            </a:r>
            <a:r>
              <a:rPr b="0" i="0">
                <a:latin typeface="Consolas"/>
              </a:rPr>
              <a:t>sample</a:t>
            </a:r>
            <a:r>
              <a:rPr b="0" i="0">
                <a:latin typeface="Consolas"/>
              </a:rPr>
              <a:t>/</a:t>
            </a:r>
            <a:r>
              <a:rPr b="1" i="0">
                <a:solidFill>
                  <a:srgbClr val="008000"/>
                </a:solidFill>
                <a:latin typeface="Consolas"/>
              </a:rPr>
              <a:t>default</a:t>
            </a:r>
            <a:r>
              <a:rPr b="0" i="0">
                <a:latin typeface="Consolas"/>
              </a:rPr>
              <a:t>-showcase</a:t>
            </a:r>
            <a:r>
              <a:rPr b="0" i="0">
                <a:latin typeface="Consolas"/>
              </a:rPr>
              <a:t>.</a:t>
            </a:r>
            <a:r>
              <a:rPr b="0" i="0">
                <a:latin typeface="Consolas"/>
              </a:rPr>
              <a:t>pptx</a:t>
            </a:r>
            <a:r>
              <a:rPr b="0" i="0">
                <a:latin typeface="Consolas"/>
              </a:rPr>
              <a:t> </a:t>
            </a:r>
            <a:r>
              <a:rPr b="0" i="0">
                <a:latin typeface="Consolas"/>
              </a:rPr>
              <a:t>-</a:t>
            </a:r>
            <a:r>
              <a:rPr b="0" i="0">
                <a:latin typeface="Consolas"/>
              </a:rPr>
              <a:t>-force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Syntax highlighting: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</a:pPr>
            <a:r>
              <a:rPr b="0" i="1">
                <a:solidFill>
                  <a:srgbClr val="3D7B7B"/>
                </a:solidFill>
                <a:latin typeface="Consolas"/>
              </a:rPr>
              <a:t># Summarize completed work</a:t>
            </a:r>
            <a:br/>
            <a:r>
              <a:rPr b="1" i="0">
                <a:solidFill>
                  <a:srgbClr val="008000"/>
                </a:solidFill>
                <a:latin typeface="Consolas"/>
              </a:rPr>
              <a:t>def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0000FF"/>
                </a:solidFill>
                <a:latin typeface="Consolas"/>
              </a:rPr>
              <a:t>summarize</a:t>
            </a:r>
            <a:r>
              <a:rPr b="0" i="0">
                <a:latin typeface="Consolas"/>
              </a:rPr>
              <a:t>(</a:t>
            </a:r>
            <a:r>
              <a:rPr b="0" i="0">
                <a:latin typeface="Consolas"/>
              </a:rPr>
              <a:t>tasks</a:t>
            </a:r>
            <a:r>
              <a:rPr b="0" i="0">
                <a:latin typeface="Consolas"/>
              </a:rPr>
              <a:t>: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008000"/>
                </a:solidFill>
                <a:latin typeface="Consolas"/>
              </a:rPr>
              <a:t>list</a:t>
            </a:r>
            <a:r>
              <a:rPr b="0" i="0">
                <a:latin typeface="Consolas"/>
              </a:rPr>
              <a:t>[</a:t>
            </a:r>
            <a:r>
              <a:rPr b="0" i="0">
                <a:solidFill>
                  <a:srgbClr val="008000"/>
                </a:solidFill>
                <a:latin typeface="Consolas"/>
              </a:rPr>
              <a:t>str</a:t>
            </a:r>
            <a:r>
              <a:rPr b="0" i="0">
                <a:latin typeface="Consolas"/>
              </a:rPr>
              <a:t>]</a:t>
            </a:r>
            <a:r>
              <a:rPr b="0" i="0">
                <a:latin typeface="Consolas"/>
              </a:rPr>
              <a:t>)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666666"/>
                </a:solidFill>
                <a:latin typeface="Consolas"/>
              </a:rPr>
              <a:t>-</a:t>
            </a:r>
            <a:r>
              <a:rPr b="0" i="0">
                <a:solidFill>
                  <a:srgbClr val="666666"/>
                </a:solidFill>
                <a:latin typeface="Consolas"/>
              </a:rPr>
              <a:t>&gt;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008000"/>
                </a:solidFill>
                <a:latin typeface="Consolas"/>
              </a:rPr>
              <a:t>str</a:t>
            </a:r>
            <a:r>
              <a:rPr b="0" i="0">
                <a:latin typeface="Consolas"/>
              </a:rPr>
              <a:t>:</a:t>
            </a:r>
            <a:br/>
            <a:r>
              <a:rPr b="0" i="0">
                <a:latin typeface="Consolas"/>
              </a:rPr>
              <a:t>    </a:t>
            </a:r>
            <a:r>
              <a:rPr b="0" i="0">
                <a:latin typeface="Consolas"/>
              </a:rPr>
              <a:t>count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666666"/>
                </a:solidFill>
                <a:latin typeface="Consolas"/>
              </a:rPr>
              <a:t>=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008000"/>
                </a:solidFill>
                <a:latin typeface="Consolas"/>
              </a:rPr>
              <a:t>len</a:t>
            </a:r>
            <a:r>
              <a:rPr b="0" i="0">
                <a:latin typeface="Consolas"/>
              </a:rPr>
              <a:t>(</a:t>
            </a:r>
            <a:r>
              <a:rPr b="0" i="0">
                <a:latin typeface="Consolas"/>
              </a:rPr>
              <a:t>tasks</a:t>
            </a:r>
            <a:r>
              <a:rPr b="0" i="0">
                <a:latin typeface="Consolas"/>
              </a:rPr>
              <a:t>)</a:t>
            </a:r>
            <a:br/>
            <a:r>
              <a:rPr b="0" i="0">
                <a:latin typeface="Consolas"/>
              </a:rPr>
              <a:t>    </a:t>
            </a:r>
            <a:r>
              <a:rPr b="1" i="0">
                <a:solidFill>
                  <a:srgbClr val="008000"/>
                </a:solidFill>
                <a:latin typeface="Consolas"/>
              </a:rPr>
              <a:t>return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BA2121"/>
                </a:solidFill>
                <a:latin typeface="Consolas"/>
              </a:rPr>
              <a:t>f</a:t>
            </a:r>
            <a:r>
              <a:rPr b="0" i="0">
                <a:solidFill>
                  <a:srgbClr val="BA2121"/>
                </a:solidFill>
                <a:latin typeface="Consolas"/>
              </a:rPr>
              <a:t>"</a:t>
            </a:r>
            <a:r>
              <a:rPr b="0" i="0">
                <a:solidFill>
                  <a:srgbClr val="BA2121"/>
                </a:solidFill>
                <a:latin typeface="Consolas"/>
              </a:rPr>
              <a:t>Completed </a:t>
            </a:r>
            <a:r>
              <a:rPr b="1" i="0">
                <a:solidFill>
                  <a:srgbClr val="A45A77"/>
                </a:solidFill>
                <a:latin typeface="Consolas"/>
              </a:rPr>
              <a:t>{</a:t>
            </a:r>
            <a:r>
              <a:rPr b="0" i="0">
                <a:latin typeface="Consolas"/>
              </a:rPr>
              <a:t>count</a:t>
            </a:r>
            <a:r>
              <a:rPr b="1" i="0">
                <a:solidFill>
                  <a:srgbClr val="A45A77"/>
                </a:solidFill>
                <a:latin typeface="Consolas"/>
              </a:rPr>
              <a:t>}</a:t>
            </a:r>
            <a:r>
              <a:rPr b="0" i="0">
                <a:solidFill>
                  <a:srgbClr val="BA2121"/>
                </a:solidFill>
                <a:latin typeface="Consolas"/>
              </a:rPr>
              <a:t> tasks</a:t>
            </a:r>
            <a:r>
              <a:rPr b="0" i="0">
                <a:solidFill>
                  <a:srgbClr val="BA2121"/>
                </a:solidFill>
                <a:latin typeface="Consolas"/>
              </a:rPr>
              <a:t>"</a:t>
            </a:r>
            <a:br/>
            <a:br/>
            <a:br/>
            <a:r>
              <a:rPr b="0" i="0">
                <a:latin typeface="Consolas"/>
              </a:rPr>
              <a:t>tasks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666666"/>
                </a:solidFill>
                <a:latin typeface="Consolas"/>
              </a:rPr>
              <a:t>=</a:t>
            </a:r>
            <a:r>
              <a:rPr b="0" i="0">
                <a:latin typeface="Consolas"/>
              </a:rPr>
              <a:t> </a:t>
            </a:r>
            <a:r>
              <a:rPr b="0" i="0">
                <a:latin typeface="Consolas"/>
              </a:rPr>
              <a:t>[</a:t>
            </a:r>
            <a:r>
              <a:rPr b="0" i="0">
                <a:solidFill>
                  <a:srgbClr val="BA2121"/>
                </a:solidFill>
                <a:latin typeface="Consolas"/>
              </a:rPr>
              <a:t>"</a:t>
            </a:r>
            <a:r>
              <a:rPr b="0" i="0">
                <a:solidFill>
                  <a:srgbClr val="BA2121"/>
                </a:solidFill>
                <a:latin typeface="Consolas"/>
              </a:rPr>
              <a:t>Design</a:t>
            </a:r>
            <a:r>
              <a:rPr b="0" i="0">
                <a:solidFill>
                  <a:srgbClr val="BA2121"/>
                </a:solidFill>
                <a:latin typeface="Consolas"/>
              </a:rPr>
              <a:t>"</a:t>
            </a:r>
            <a:r>
              <a:rPr b="0" i="0">
                <a:latin typeface="Consolas"/>
              </a:rPr>
              <a:t>,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BA2121"/>
                </a:solidFill>
                <a:latin typeface="Consolas"/>
              </a:rPr>
              <a:t>"</a:t>
            </a:r>
            <a:r>
              <a:rPr b="0" i="0">
                <a:solidFill>
                  <a:srgbClr val="BA2121"/>
                </a:solidFill>
                <a:latin typeface="Consolas"/>
              </a:rPr>
              <a:t>Build</a:t>
            </a:r>
            <a:r>
              <a:rPr b="0" i="0">
                <a:solidFill>
                  <a:srgbClr val="BA2121"/>
                </a:solidFill>
                <a:latin typeface="Consolas"/>
              </a:rPr>
              <a:t>"</a:t>
            </a:r>
            <a:r>
              <a:rPr b="0" i="0">
                <a:latin typeface="Consolas"/>
              </a:rPr>
              <a:t>,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BA2121"/>
                </a:solidFill>
                <a:latin typeface="Consolas"/>
              </a:rPr>
              <a:t>"</a:t>
            </a:r>
            <a:r>
              <a:rPr b="0" i="0">
                <a:solidFill>
                  <a:srgbClr val="BA2121"/>
                </a:solidFill>
                <a:latin typeface="Consolas"/>
              </a:rPr>
              <a:t>Review</a:t>
            </a:r>
            <a:r>
              <a:rPr b="0" i="0">
                <a:solidFill>
                  <a:srgbClr val="BA2121"/>
                </a:solidFill>
                <a:latin typeface="Consolas"/>
              </a:rPr>
              <a:t>"</a:t>
            </a:r>
            <a:r>
              <a:rPr b="0" i="0">
                <a:latin typeface="Consolas"/>
              </a:rPr>
              <a:t>]</a:t>
            </a:r>
            <a:br/>
            <a:r>
              <a:rPr b="1" i="0">
                <a:solidFill>
                  <a:srgbClr val="008000"/>
                </a:solidFill>
                <a:latin typeface="Consolas"/>
              </a:rPr>
              <a:t>if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008000"/>
                </a:solidFill>
                <a:latin typeface="Consolas"/>
              </a:rPr>
              <a:t>len</a:t>
            </a:r>
            <a:r>
              <a:rPr b="0" i="0">
                <a:latin typeface="Consolas"/>
              </a:rPr>
              <a:t>(</a:t>
            </a:r>
            <a:r>
              <a:rPr b="0" i="0">
                <a:latin typeface="Consolas"/>
              </a:rPr>
              <a:t>tasks</a:t>
            </a:r>
            <a:r>
              <a:rPr b="0" i="0">
                <a:latin typeface="Consolas"/>
              </a:rPr>
              <a:t>)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666666"/>
                </a:solidFill>
                <a:latin typeface="Consolas"/>
              </a:rPr>
              <a:t>&gt;</a:t>
            </a:r>
            <a:r>
              <a:rPr b="0" i="0">
                <a:solidFill>
                  <a:srgbClr val="666666"/>
                </a:solidFill>
                <a:latin typeface="Consolas"/>
              </a:rPr>
              <a:t>=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666666"/>
                </a:solidFill>
                <a:latin typeface="Consolas"/>
              </a:rPr>
              <a:t>3</a:t>
            </a:r>
            <a:r>
              <a:rPr b="0" i="0">
                <a:latin typeface="Consolas"/>
              </a:rPr>
              <a:t>:</a:t>
            </a:r>
            <a:br/>
            <a:r>
              <a:rPr b="0" i="0">
                <a:latin typeface="Consolas"/>
              </a:rPr>
              <a:t>    </a:t>
            </a:r>
            <a:r>
              <a:rPr b="0" i="0">
                <a:solidFill>
                  <a:srgbClr val="008000"/>
                </a:solidFill>
                <a:latin typeface="Consolas"/>
              </a:rPr>
              <a:t>print</a:t>
            </a:r>
            <a:r>
              <a:rPr b="0" i="0">
                <a:latin typeface="Consolas"/>
              </a:rPr>
              <a:t>(</a:t>
            </a:r>
            <a:r>
              <a:rPr b="0" i="0">
                <a:latin typeface="Consolas"/>
              </a:rPr>
              <a:t>summarize</a:t>
            </a:r>
            <a:r>
              <a:rPr b="0" i="0">
                <a:latin typeface="Consolas"/>
              </a:rPr>
              <a:t>(</a:t>
            </a:r>
            <a:r>
              <a:rPr b="0" i="0">
                <a:latin typeface="Consolas"/>
              </a:rPr>
              <a:t>tasks</a:t>
            </a:r>
            <a:r>
              <a:rPr b="0" i="0">
                <a:latin typeface="Consolas"/>
              </a:rPr>
              <a:t>)</a:t>
            </a:r>
            <a:r>
              <a:rPr b="0" i="0"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Syntax highlighting: TypeScript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</a:pPr>
            <a:r>
              <a:rPr b="0" i="1">
                <a:solidFill>
                  <a:srgbClr val="3D7B7B"/>
                </a:solidFill>
                <a:latin typeface="Consolas"/>
              </a:rPr>
              <a:t>// Calculate the remaining work</a:t>
            </a:r>
            <a:br/>
            <a:r>
              <a:rPr b="1" i="0">
                <a:solidFill>
                  <a:srgbClr val="008000"/>
                </a:solidFill>
                <a:latin typeface="Consolas"/>
              </a:rPr>
              <a:t>type</a:t>
            </a:r>
            <a:r>
              <a:rPr b="0" i="0">
                <a:latin typeface="Consolas"/>
              </a:rPr>
              <a:t> </a:t>
            </a:r>
            <a:r>
              <a:rPr b="0" i="0">
                <a:latin typeface="Consolas"/>
              </a:rPr>
              <a:t>Project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666666"/>
                </a:solidFill>
                <a:latin typeface="Consolas"/>
              </a:rPr>
              <a:t>=</a:t>
            </a:r>
            <a:r>
              <a:rPr b="0" i="0">
                <a:latin typeface="Consolas"/>
              </a:rPr>
              <a:t> </a:t>
            </a:r>
            <a:r>
              <a:rPr b="0" i="0">
                <a:latin typeface="Consolas"/>
              </a:rPr>
              <a:t>{</a:t>
            </a:r>
            <a:r>
              <a:rPr b="0" i="0">
                <a:latin typeface="Consolas"/>
              </a:rPr>
              <a:t> </a:t>
            </a:r>
            <a:r>
              <a:rPr b="0" i="0">
                <a:latin typeface="Consolas"/>
              </a:rPr>
              <a:t>name</a:t>
            </a:r>
            <a:r>
              <a:rPr b="0" i="0">
                <a:solidFill>
                  <a:srgbClr val="666666"/>
                </a:solidFill>
                <a:latin typeface="Consolas"/>
              </a:rPr>
              <a:t>: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B00040"/>
                </a:solidFill>
                <a:latin typeface="Consolas"/>
              </a:rPr>
              <a:t>string</a:t>
            </a:r>
            <a:r>
              <a:rPr b="0" i="0">
                <a:latin typeface="Consolas"/>
              </a:rPr>
              <a:t>,</a:t>
            </a:r>
            <a:r>
              <a:rPr b="0" i="0">
                <a:latin typeface="Consolas"/>
              </a:rPr>
              <a:t> </a:t>
            </a:r>
            <a:r>
              <a:rPr b="0" i="0">
                <a:latin typeface="Consolas"/>
              </a:rPr>
              <a:t>completed</a:t>
            </a:r>
            <a:r>
              <a:rPr b="0" i="0">
                <a:solidFill>
                  <a:srgbClr val="666666"/>
                </a:solidFill>
                <a:latin typeface="Consolas"/>
              </a:rPr>
              <a:t>: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B00040"/>
                </a:solidFill>
                <a:latin typeface="Consolas"/>
              </a:rPr>
              <a:t>number</a:t>
            </a:r>
            <a:r>
              <a:rPr b="0" i="0">
                <a:latin typeface="Consolas"/>
              </a:rPr>
              <a:t> </a:t>
            </a:r>
            <a:r>
              <a:rPr b="0" i="0">
                <a:latin typeface="Consolas"/>
              </a:rPr>
              <a:t>}</a:t>
            </a:r>
            <a:br/>
            <a:br/>
            <a:r>
              <a:rPr b="1" i="0">
                <a:solidFill>
                  <a:srgbClr val="008000"/>
                </a:solidFill>
                <a:latin typeface="Consolas"/>
              </a:rPr>
              <a:t>const</a:t>
            </a:r>
            <a:r>
              <a:rPr b="0" i="0">
                <a:latin typeface="Consolas"/>
              </a:rPr>
              <a:t> </a:t>
            </a:r>
            <a:r>
              <a:rPr b="0" i="0">
                <a:latin typeface="Consolas"/>
              </a:rPr>
              <a:t>remaining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666666"/>
                </a:solidFill>
                <a:latin typeface="Consolas"/>
              </a:rPr>
              <a:t>=</a:t>
            </a:r>
            <a:r>
              <a:rPr b="0" i="0">
                <a:latin typeface="Consolas"/>
              </a:rPr>
              <a:t> </a:t>
            </a:r>
            <a:r>
              <a:rPr b="0" i="0">
                <a:latin typeface="Consolas"/>
              </a:rPr>
              <a:t>(</a:t>
            </a:r>
            <a:r>
              <a:rPr b="0" i="0">
                <a:latin typeface="Consolas"/>
              </a:rPr>
              <a:t>project</a:t>
            </a:r>
            <a:r>
              <a:rPr b="0" i="0">
                <a:solidFill>
                  <a:srgbClr val="666666"/>
                </a:solidFill>
                <a:latin typeface="Consolas"/>
              </a:rPr>
              <a:t>: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B00040"/>
                </a:solidFill>
                <a:latin typeface="Consolas"/>
              </a:rPr>
              <a:t>Project</a:t>
            </a:r>
            <a:r>
              <a:rPr b="0" i="0">
                <a:latin typeface="Consolas"/>
              </a:rPr>
              <a:t>)</a:t>
            </a:r>
            <a:r>
              <a:rPr b="0" i="0">
                <a:solidFill>
                  <a:srgbClr val="666666"/>
                </a:solidFill>
                <a:latin typeface="Consolas"/>
              </a:rPr>
              <a:t>: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B00040"/>
                </a:solidFill>
                <a:latin typeface="Consolas"/>
              </a:rPr>
              <a:t>number</a:t>
            </a:r>
            <a:r>
              <a:rPr b="0" i="0">
                <a:latin typeface="Consolas"/>
              </a:rPr>
              <a:t> </a:t>
            </a:r>
            <a:r>
              <a:rPr b="0" i="0">
                <a:latin typeface="Consolas"/>
              </a:rPr>
              <a:t>=&gt;</a:t>
            </a:r>
            <a:r>
              <a:rPr b="0" i="0">
                <a:latin typeface="Consolas"/>
              </a:rPr>
              <a:t> </a:t>
            </a:r>
            <a:r>
              <a:rPr b="0" i="0">
                <a:latin typeface="Consolas"/>
              </a:rPr>
              <a:t>{</a:t>
            </a:r>
            <a:br/>
            <a:r>
              <a:rPr b="0" i="0">
                <a:latin typeface="Consolas"/>
              </a:rPr>
              <a:t>  </a:t>
            </a:r>
            <a:r>
              <a:rPr b="1" i="0">
                <a:solidFill>
                  <a:srgbClr val="008000"/>
                </a:solidFill>
                <a:latin typeface="Consolas"/>
              </a:rPr>
              <a:t>return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008000"/>
                </a:solidFill>
                <a:latin typeface="Consolas"/>
              </a:rPr>
              <a:t>Math</a:t>
            </a:r>
            <a:r>
              <a:rPr b="0" i="0">
                <a:latin typeface="Consolas"/>
              </a:rPr>
              <a:t>.</a:t>
            </a:r>
            <a:r>
              <a:rPr b="0" i="0">
                <a:latin typeface="Consolas"/>
              </a:rPr>
              <a:t>max</a:t>
            </a:r>
            <a:r>
              <a:rPr b="0" i="0">
                <a:latin typeface="Consolas"/>
              </a:rPr>
              <a:t>(</a:t>
            </a:r>
            <a:r>
              <a:rPr b="0" i="0">
                <a:solidFill>
                  <a:srgbClr val="666666"/>
                </a:solidFill>
                <a:latin typeface="Consolas"/>
              </a:rPr>
              <a:t>0</a:t>
            </a:r>
            <a:r>
              <a:rPr b="0" i="0">
                <a:latin typeface="Consolas"/>
              </a:rPr>
              <a:t>,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666666"/>
                </a:solidFill>
                <a:latin typeface="Consolas"/>
              </a:rPr>
              <a:t>10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666666"/>
                </a:solidFill>
                <a:latin typeface="Consolas"/>
              </a:rPr>
              <a:t>-</a:t>
            </a:r>
            <a:r>
              <a:rPr b="0" i="0">
                <a:latin typeface="Consolas"/>
              </a:rPr>
              <a:t> </a:t>
            </a:r>
            <a:r>
              <a:rPr b="0" i="0">
                <a:latin typeface="Consolas"/>
              </a:rPr>
              <a:t>project</a:t>
            </a:r>
            <a:r>
              <a:rPr b="0" i="0">
                <a:latin typeface="Consolas"/>
              </a:rPr>
              <a:t>.</a:t>
            </a:r>
            <a:r>
              <a:rPr b="0" i="0">
                <a:latin typeface="Consolas"/>
              </a:rPr>
              <a:t>completed</a:t>
            </a:r>
            <a:r>
              <a:rPr b="0" i="0">
                <a:latin typeface="Consolas"/>
              </a:rPr>
              <a:t>)</a:t>
            </a:r>
            <a:br/>
            <a:r>
              <a:rPr b="0" i="0">
                <a:latin typeface="Consolas"/>
              </a:rPr>
              <a:t>}</a:t>
            </a:r>
            <a:br/>
            <a:br/>
            <a:r>
              <a:rPr b="1" i="0">
                <a:solidFill>
                  <a:srgbClr val="008000"/>
                </a:solidFill>
                <a:latin typeface="Consolas"/>
              </a:rPr>
              <a:t>const</a:t>
            </a:r>
            <a:r>
              <a:rPr b="0" i="0">
                <a:latin typeface="Consolas"/>
              </a:rPr>
              <a:t> </a:t>
            </a:r>
            <a:r>
              <a:rPr b="0" i="0">
                <a:latin typeface="Consolas"/>
              </a:rPr>
              <a:t>launch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666666"/>
                </a:solidFill>
                <a:latin typeface="Consolas"/>
              </a:rPr>
              <a:t>=</a:t>
            </a:r>
            <a:r>
              <a:rPr b="0" i="0">
                <a:latin typeface="Consolas"/>
              </a:rPr>
              <a:t> </a:t>
            </a:r>
            <a:r>
              <a:rPr b="0" i="0">
                <a:latin typeface="Consolas"/>
              </a:rPr>
              <a:t>{</a:t>
            </a:r>
            <a:r>
              <a:rPr b="0" i="0">
                <a:latin typeface="Consolas"/>
              </a:rPr>
              <a:t> </a:t>
            </a:r>
            <a:r>
              <a:rPr b="0" i="0">
                <a:latin typeface="Consolas"/>
              </a:rPr>
              <a:t>name</a:t>
            </a:r>
            <a:r>
              <a:rPr b="0" i="0">
                <a:solidFill>
                  <a:srgbClr val="666666"/>
                </a:solidFill>
                <a:latin typeface="Consolas"/>
              </a:rPr>
              <a:t>: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BA2121"/>
                </a:solidFill>
                <a:latin typeface="Consolas"/>
              </a:rPr>
              <a:t>"Launch"</a:t>
            </a:r>
            <a:r>
              <a:rPr b="0" i="0">
                <a:latin typeface="Consolas"/>
              </a:rPr>
              <a:t>,</a:t>
            </a:r>
            <a:r>
              <a:rPr b="0" i="0">
                <a:latin typeface="Consolas"/>
              </a:rPr>
              <a:t> </a:t>
            </a:r>
            <a:r>
              <a:rPr b="0" i="0">
                <a:latin typeface="Consolas"/>
              </a:rPr>
              <a:t>completed</a:t>
            </a:r>
            <a:r>
              <a:rPr b="0" i="0">
                <a:solidFill>
                  <a:srgbClr val="666666"/>
                </a:solidFill>
                <a:latin typeface="Consolas"/>
              </a:rPr>
              <a:t>: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B00040"/>
                </a:solidFill>
                <a:latin typeface="Consolas"/>
              </a:rPr>
              <a:t>7</a:t>
            </a:r>
            <a:r>
              <a:rPr b="0" i="0">
                <a:latin typeface="Consolas"/>
              </a:rPr>
              <a:t> </a:t>
            </a:r>
            <a:r>
              <a:rPr b="0" i="0">
                <a:latin typeface="Consolas"/>
              </a:rPr>
              <a:t>}</a:t>
            </a:r>
            <a:br/>
            <a:r>
              <a:rPr b="0" i="0">
                <a:latin typeface="Consolas"/>
              </a:rPr>
              <a:t>console</a:t>
            </a:r>
            <a:r>
              <a:rPr b="0" i="0">
                <a:latin typeface="Consolas"/>
              </a:rPr>
              <a:t>.</a:t>
            </a:r>
            <a:r>
              <a:rPr b="0" i="0">
                <a:latin typeface="Consolas"/>
              </a:rPr>
              <a:t>log</a:t>
            </a:r>
            <a:r>
              <a:rPr b="0" i="0">
                <a:latin typeface="Consolas"/>
              </a:rPr>
              <a:t>(</a:t>
            </a:r>
            <a:r>
              <a:rPr b="0" i="0">
                <a:solidFill>
                  <a:srgbClr val="BA2121"/>
                </a:solidFill>
                <a:latin typeface="Consolas"/>
              </a:rPr>
              <a:t>`</a:t>
            </a:r>
            <a:r>
              <a:rPr b="0" i="0">
                <a:solidFill>
                  <a:srgbClr val="BA2121"/>
                </a:solidFill>
                <a:latin typeface="Consolas"/>
              </a:rPr>
              <a:t>Remaining: </a:t>
            </a:r>
            <a:r>
              <a:rPr b="1" i="0">
                <a:solidFill>
                  <a:srgbClr val="A45A77"/>
                </a:solidFill>
                <a:latin typeface="Consolas"/>
              </a:rPr>
              <a:t>${</a:t>
            </a:r>
            <a:r>
              <a:rPr b="0" i="0">
                <a:latin typeface="Consolas"/>
              </a:rPr>
              <a:t>remaining</a:t>
            </a:r>
            <a:r>
              <a:rPr b="0" i="0">
                <a:latin typeface="Consolas"/>
              </a:rPr>
              <a:t>(</a:t>
            </a:r>
            <a:r>
              <a:rPr b="0" i="0">
                <a:latin typeface="Consolas"/>
              </a:rPr>
              <a:t>launch</a:t>
            </a:r>
            <a:r>
              <a:rPr b="0" i="0">
                <a:latin typeface="Consolas"/>
              </a:rPr>
              <a:t>)</a:t>
            </a:r>
            <a:r>
              <a:rPr b="1" i="0">
                <a:solidFill>
                  <a:srgbClr val="A45A77"/>
                </a:solidFill>
                <a:latin typeface="Consolas"/>
              </a:rPr>
              <a:t>}</a:t>
            </a:r>
            <a:r>
              <a:rPr b="0" i="0">
                <a:solidFill>
                  <a:srgbClr val="BA2121"/>
                </a:solidFill>
                <a:latin typeface="Consolas"/>
              </a:rPr>
              <a:t>`</a:t>
            </a:r>
            <a:r>
              <a:rPr b="0" i="0"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Syntax highlighting: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</a:pPr>
            <a:r>
              <a:rPr b="0" i="1">
                <a:solidFill>
                  <a:srgbClr val="3D7B7B"/>
                </a:solidFill>
                <a:latin typeface="Consolas"/>
              </a:rPr>
              <a:t>&lt;!-- A compact project card --&gt;</a:t>
            </a:r>
            <a:br/>
            <a:r>
              <a:rPr b="0" i="0">
                <a:latin typeface="Consolas"/>
              </a:rPr>
              <a:t>&lt;</a:t>
            </a:r>
            <a:r>
              <a:rPr b="1" i="0">
                <a:solidFill>
                  <a:srgbClr val="008000"/>
                </a:solidFill>
                <a:latin typeface="Consolas"/>
              </a:rPr>
              <a:t>article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687822"/>
                </a:solidFill>
                <a:latin typeface="Consolas"/>
              </a:rPr>
              <a:t>class</a:t>
            </a:r>
            <a:r>
              <a:rPr b="0" i="0">
                <a:solidFill>
                  <a:srgbClr val="666666"/>
                </a:solidFill>
                <a:latin typeface="Consolas"/>
              </a:rPr>
              <a:t>=</a:t>
            </a:r>
            <a:r>
              <a:rPr b="0" i="0">
                <a:solidFill>
                  <a:srgbClr val="BA2121"/>
                </a:solidFill>
                <a:latin typeface="Consolas"/>
              </a:rPr>
              <a:t>"project-card"</a:t>
            </a:r>
            <a:r>
              <a:rPr b="0" i="0">
                <a:latin typeface="Consolas"/>
              </a:rPr>
              <a:t>&gt;</a:t>
            </a:r>
            <a:br/>
            <a:r>
              <a:rPr b="0" i="0">
                <a:latin typeface="Consolas"/>
              </a:rPr>
              <a:t>  </a:t>
            </a:r>
            <a:r>
              <a:rPr b="0" i="0">
                <a:latin typeface="Consolas"/>
              </a:rPr>
              <a:t>&lt;</a:t>
            </a:r>
            <a:r>
              <a:rPr b="1" i="0">
                <a:solidFill>
                  <a:srgbClr val="008000"/>
                </a:solidFill>
                <a:latin typeface="Consolas"/>
              </a:rPr>
              <a:t>h2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687822"/>
                </a:solidFill>
                <a:latin typeface="Consolas"/>
              </a:rPr>
              <a:t>id</a:t>
            </a:r>
            <a:r>
              <a:rPr b="0" i="0">
                <a:solidFill>
                  <a:srgbClr val="666666"/>
                </a:solidFill>
                <a:latin typeface="Consolas"/>
              </a:rPr>
              <a:t>=</a:t>
            </a:r>
            <a:r>
              <a:rPr b="0" i="0">
                <a:solidFill>
                  <a:srgbClr val="BA2121"/>
                </a:solidFill>
                <a:latin typeface="Consolas"/>
              </a:rPr>
              <a:t>"title"</a:t>
            </a:r>
            <a:r>
              <a:rPr b="0" i="0">
                <a:latin typeface="Consolas"/>
              </a:rPr>
              <a:t>&gt;</a:t>
            </a:r>
            <a:r>
              <a:rPr b="0" i="0">
                <a:latin typeface="Consolas"/>
              </a:rPr>
              <a:t>Launch checklist</a:t>
            </a:r>
            <a:r>
              <a:rPr b="0" i="0">
                <a:latin typeface="Consolas"/>
              </a:rPr>
              <a:t>&lt;</a:t>
            </a:r>
            <a:r>
              <a:rPr b="0" i="0">
                <a:latin typeface="Consolas"/>
              </a:rPr>
              <a:t>/</a:t>
            </a:r>
            <a:r>
              <a:rPr b="1" i="0">
                <a:solidFill>
                  <a:srgbClr val="008000"/>
                </a:solidFill>
                <a:latin typeface="Consolas"/>
              </a:rPr>
              <a:t>h2</a:t>
            </a:r>
            <a:r>
              <a:rPr b="0" i="0">
                <a:latin typeface="Consolas"/>
              </a:rPr>
              <a:t>&gt;</a:t>
            </a:r>
            <a:br/>
            <a:r>
              <a:rPr b="0" i="0">
                <a:latin typeface="Consolas"/>
              </a:rPr>
              <a:t>  </a:t>
            </a:r>
            <a:r>
              <a:rPr b="0" i="0">
                <a:latin typeface="Consolas"/>
              </a:rPr>
              <a:t>&lt;</a:t>
            </a:r>
            <a:r>
              <a:rPr b="1" i="0">
                <a:solidFill>
                  <a:srgbClr val="008000"/>
                </a:solidFill>
                <a:latin typeface="Consolas"/>
              </a:rPr>
              <a:t>p</a:t>
            </a:r>
            <a:r>
              <a:rPr b="0" i="0">
                <a:latin typeface="Consolas"/>
              </a:rPr>
              <a:t>&gt;</a:t>
            </a:r>
            <a:r>
              <a:rPr b="0" i="0">
                <a:latin typeface="Consolas"/>
              </a:rPr>
              <a:t>Three steps remain before release.</a:t>
            </a:r>
            <a:r>
              <a:rPr b="0" i="0">
                <a:latin typeface="Consolas"/>
              </a:rPr>
              <a:t>&lt;</a:t>
            </a:r>
            <a:r>
              <a:rPr b="0" i="0">
                <a:latin typeface="Consolas"/>
              </a:rPr>
              <a:t>/</a:t>
            </a:r>
            <a:r>
              <a:rPr b="1" i="0">
                <a:solidFill>
                  <a:srgbClr val="008000"/>
                </a:solidFill>
                <a:latin typeface="Consolas"/>
              </a:rPr>
              <a:t>p</a:t>
            </a:r>
            <a:r>
              <a:rPr b="0" i="0">
                <a:latin typeface="Consolas"/>
              </a:rPr>
              <a:t>&gt;</a:t>
            </a:r>
            <a:br/>
            <a:r>
              <a:rPr b="0" i="0">
                <a:latin typeface="Consolas"/>
              </a:rPr>
              <a:t>  </a:t>
            </a:r>
            <a:r>
              <a:rPr b="0" i="0">
                <a:latin typeface="Consolas"/>
              </a:rPr>
              <a:t>&lt;</a:t>
            </a:r>
            <a:r>
              <a:rPr b="1" i="0">
                <a:solidFill>
                  <a:srgbClr val="008000"/>
                </a:solidFill>
                <a:latin typeface="Consolas"/>
              </a:rPr>
              <a:t>ul</a:t>
            </a:r>
            <a:r>
              <a:rPr b="0" i="0">
                <a:latin typeface="Consolas"/>
              </a:rPr>
              <a:t>&gt;</a:t>
            </a:r>
            <a:br/>
            <a:r>
              <a:rPr b="0" i="0">
                <a:latin typeface="Consolas"/>
              </a:rPr>
              <a:t>    </a:t>
            </a:r>
            <a:r>
              <a:rPr b="0" i="0">
                <a:latin typeface="Consolas"/>
              </a:rPr>
              <a:t>&lt;</a:t>
            </a:r>
            <a:r>
              <a:rPr b="1" i="0">
                <a:solidFill>
                  <a:srgbClr val="008000"/>
                </a:solidFill>
                <a:latin typeface="Consolas"/>
              </a:rPr>
              <a:t>li</a:t>
            </a:r>
            <a:r>
              <a:rPr b="0" i="0">
                <a:latin typeface="Consolas"/>
              </a:rPr>
              <a:t>&gt;</a:t>
            </a:r>
            <a:r>
              <a:rPr b="0" i="0">
                <a:latin typeface="Consolas"/>
              </a:rPr>
              <a:t>Review the preview</a:t>
            </a:r>
            <a:r>
              <a:rPr b="0" i="0">
                <a:latin typeface="Consolas"/>
              </a:rPr>
              <a:t>&lt;</a:t>
            </a:r>
            <a:r>
              <a:rPr b="0" i="0">
                <a:latin typeface="Consolas"/>
              </a:rPr>
              <a:t>/</a:t>
            </a:r>
            <a:r>
              <a:rPr b="1" i="0">
                <a:solidFill>
                  <a:srgbClr val="008000"/>
                </a:solidFill>
                <a:latin typeface="Consolas"/>
              </a:rPr>
              <a:t>li</a:t>
            </a:r>
            <a:r>
              <a:rPr b="0" i="0">
                <a:latin typeface="Consolas"/>
              </a:rPr>
              <a:t>&gt;</a:t>
            </a:r>
            <a:br/>
            <a:r>
              <a:rPr b="0" i="0">
                <a:latin typeface="Consolas"/>
              </a:rPr>
              <a:t>    </a:t>
            </a:r>
            <a:r>
              <a:rPr b="0" i="0">
                <a:latin typeface="Consolas"/>
              </a:rPr>
              <a:t>&lt;</a:t>
            </a:r>
            <a:r>
              <a:rPr b="1" i="0">
                <a:solidFill>
                  <a:srgbClr val="008000"/>
                </a:solidFill>
                <a:latin typeface="Consolas"/>
              </a:rPr>
              <a:t>li</a:t>
            </a:r>
            <a:r>
              <a:rPr b="0" i="0">
                <a:latin typeface="Consolas"/>
              </a:rPr>
              <a:t>&gt;</a:t>
            </a:r>
            <a:r>
              <a:rPr b="0" i="0">
                <a:latin typeface="Consolas"/>
              </a:rPr>
              <a:t>Publish the update</a:t>
            </a:r>
            <a:r>
              <a:rPr b="0" i="0">
                <a:latin typeface="Consolas"/>
              </a:rPr>
              <a:t>&lt;</a:t>
            </a:r>
            <a:r>
              <a:rPr b="0" i="0">
                <a:latin typeface="Consolas"/>
              </a:rPr>
              <a:t>/</a:t>
            </a:r>
            <a:r>
              <a:rPr b="1" i="0">
                <a:solidFill>
                  <a:srgbClr val="008000"/>
                </a:solidFill>
                <a:latin typeface="Consolas"/>
              </a:rPr>
              <a:t>li</a:t>
            </a:r>
            <a:r>
              <a:rPr b="0" i="0">
                <a:latin typeface="Consolas"/>
              </a:rPr>
              <a:t>&gt;</a:t>
            </a:r>
            <a:br/>
            <a:r>
              <a:rPr b="0" i="0">
                <a:latin typeface="Consolas"/>
              </a:rPr>
              <a:t>  </a:t>
            </a:r>
            <a:r>
              <a:rPr b="0" i="0">
                <a:latin typeface="Consolas"/>
              </a:rPr>
              <a:t>&lt;</a:t>
            </a:r>
            <a:r>
              <a:rPr b="0" i="0">
                <a:latin typeface="Consolas"/>
              </a:rPr>
              <a:t>/</a:t>
            </a:r>
            <a:r>
              <a:rPr b="1" i="0">
                <a:solidFill>
                  <a:srgbClr val="008000"/>
                </a:solidFill>
                <a:latin typeface="Consolas"/>
              </a:rPr>
              <a:t>ul</a:t>
            </a:r>
            <a:r>
              <a:rPr b="0" i="0">
                <a:latin typeface="Consolas"/>
              </a:rPr>
              <a:t>&gt;</a:t>
            </a:r>
            <a:br/>
            <a:r>
              <a:rPr b="0" i="0">
                <a:latin typeface="Consolas"/>
              </a:rPr>
              <a:t>  </a:t>
            </a:r>
            <a:r>
              <a:rPr b="0" i="0">
                <a:latin typeface="Consolas"/>
              </a:rPr>
              <a:t>&lt;</a:t>
            </a:r>
            <a:r>
              <a:rPr b="1" i="0">
                <a:solidFill>
                  <a:srgbClr val="008000"/>
                </a:solidFill>
                <a:latin typeface="Consolas"/>
              </a:rPr>
              <a:t>a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687822"/>
                </a:solidFill>
                <a:latin typeface="Consolas"/>
              </a:rPr>
              <a:t>href</a:t>
            </a:r>
            <a:r>
              <a:rPr b="0" i="0">
                <a:solidFill>
                  <a:srgbClr val="666666"/>
                </a:solidFill>
                <a:latin typeface="Consolas"/>
              </a:rPr>
              <a:t>=</a:t>
            </a:r>
            <a:r>
              <a:rPr b="0" i="0">
                <a:solidFill>
                  <a:srgbClr val="BA2121"/>
                </a:solidFill>
                <a:latin typeface="Consolas"/>
              </a:rPr>
              <a:t>"/projects/launch"</a:t>
            </a:r>
            <a:r>
              <a:rPr b="0" i="0">
                <a:latin typeface="Consolas"/>
              </a:rPr>
              <a:t>&gt;</a:t>
            </a:r>
            <a:r>
              <a:rPr b="0" i="0">
                <a:latin typeface="Consolas"/>
              </a:rPr>
              <a:t>View project</a:t>
            </a:r>
            <a:r>
              <a:rPr b="0" i="0">
                <a:latin typeface="Consolas"/>
              </a:rPr>
              <a:t>&lt;</a:t>
            </a:r>
            <a:r>
              <a:rPr b="0" i="0">
                <a:latin typeface="Consolas"/>
              </a:rPr>
              <a:t>/</a:t>
            </a:r>
            <a:r>
              <a:rPr b="1" i="0">
                <a:solidFill>
                  <a:srgbClr val="008000"/>
                </a:solidFill>
                <a:latin typeface="Consolas"/>
              </a:rPr>
              <a:t>a</a:t>
            </a:r>
            <a:r>
              <a:rPr b="0" i="0">
                <a:latin typeface="Consolas"/>
              </a:rPr>
              <a:t>&gt;</a:t>
            </a:r>
            <a:br/>
            <a:r>
              <a:rPr b="0" i="0">
                <a:latin typeface="Consolas"/>
              </a:rPr>
              <a:t>&lt;</a:t>
            </a:r>
            <a:r>
              <a:rPr b="0" i="0">
                <a:latin typeface="Consolas"/>
              </a:rPr>
              <a:t>/</a:t>
            </a:r>
            <a:r>
              <a:rPr b="1" i="0">
                <a:solidFill>
                  <a:srgbClr val="008000"/>
                </a:solidFill>
                <a:latin typeface="Consolas"/>
              </a:rPr>
              <a:t>article</a:t>
            </a:r>
            <a:r>
              <a:rPr b="0" i="0">
                <a:latin typeface="Consolas"/>
              </a:rPr>
              <a:t>&gt;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Syntax highlighting: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</a:pPr>
            <a:r>
              <a:rPr b="0" i="1">
                <a:solidFill>
                  <a:srgbClr val="3D7B7B"/>
                </a:solidFill>
                <a:latin typeface="Consolas"/>
              </a:rPr>
              <a:t>/* Style the project card */</a:t>
            </a:r>
            <a:br/>
            <a:r>
              <a:rPr b="0" i="0">
                <a:latin typeface="Consolas"/>
              </a:rPr>
              <a:t>.</a:t>
            </a:r>
            <a:r>
              <a:rPr b="1" i="0">
                <a:solidFill>
                  <a:srgbClr val="0000FF"/>
                </a:solidFill>
                <a:latin typeface="Consolas"/>
              </a:rPr>
              <a:t>project-card</a:t>
            </a:r>
            <a:r>
              <a:rPr b="0" i="0">
                <a:latin typeface="Consolas"/>
              </a:rPr>
              <a:t> </a:t>
            </a:r>
            <a:r>
              <a:rPr b="0" i="0">
                <a:latin typeface="Consolas"/>
              </a:rPr>
              <a:t>{</a:t>
            </a:r>
            <a:br/>
            <a:r>
              <a:rPr b="0" i="0">
                <a:latin typeface="Consolas"/>
              </a:rPr>
              <a:t>  </a:t>
            </a:r>
            <a:r>
              <a:rPr b="1" i="0">
                <a:solidFill>
                  <a:srgbClr val="008000"/>
                </a:solidFill>
                <a:latin typeface="Consolas"/>
              </a:rPr>
              <a:t>display</a:t>
            </a:r>
            <a:r>
              <a:rPr b="0" i="0">
                <a:latin typeface="Consolas"/>
              </a:rPr>
              <a:t>:</a:t>
            </a:r>
            <a:r>
              <a:rPr b="0" i="0">
                <a:latin typeface="Consolas"/>
              </a:rPr>
              <a:t> </a:t>
            </a:r>
            <a:r>
              <a:rPr b="1" i="0">
                <a:solidFill>
                  <a:srgbClr val="008000"/>
                </a:solidFill>
                <a:latin typeface="Consolas"/>
              </a:rPr>
              <a:t>grid</a:t>
            </a:r>
            <a:r>
              <a:rPr b="0" i="0">
                <a:latin typeface="Consolas"/>
              </a:rPr>
              <a:t>;</a:t>
            </a:r>
            <a:br/>
            <a:r>
              <a:rPr b="0" i="0">
                <a:latin typeface="Consolas"/>
              </a:rPr>
              <a:t>  </a:t>
            </a:r>
            <a:r>
              <a:rPr b="1" i="0">
                <a:solidFill>
                  <a:srgbClr val="008000"/>
                </a:solidFill>
                <a:latin typeface="Consolas"/>
              </a:rPr>
              <a:t>gap</a:t>
            </a:r>
            <a:r>
              <a:rPr b="0" i="0">
                <a:latin typeface="Consolas"/>
              </a:rPr>
              <a:t>: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666666"/>
                </a:solidFill>
                <a:latin typeface="Consolas"/>
              </a:rPr>
              <a:t>12</a:t>
            </a:r>
            <a:r>
              <a:rPr b="0" i="0">
                <a:solidFill>
                  <a:srgbClr val="B00040"/>
                </a:solidFill>
                <a:latin typeface="Consolas"/>
              </a:rPr>
              <a:t>px</a:t>
            </a:r>
            <a:r>
              <a:rPr b="0" i="0">
                <a:latin typeface="Consolas"/>
              </a:rPr>
              <a:t>;</a:t>
            </a:r>
            <a:br/>
            <a:r>
              <a:rPr b="0" i="0">
                <a:latin typeface="Consolas"/>
              </a:rPr>
              <a:t>  </a:t>
            </a:r>
            <a:r>
              <a:rPr b="1" i="0">
                <a:solidFill>
                  <a:srgbClr val="008000"/>
                </a:solidFill>
                <a:latin typeface="Consolas"/>
              </a:rPr>
              <a:t>padding</a:t>
            </a:r>
            <a:r>
              <a:rPr b="0" i="0">
                <a:latin typeface="Consolas"/>
              </a:rPr>
              <a:t>: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666666"/>
                </a:solidFill>
                <a:latin typeface="Consolas"/>
              </a:rPr>
              <a:t>24</a:t>
            </a:r>
            <a:r>
              <a:rPr b="0" i="0">
                <a:solidFill>
                  <a:srgbClr val="B00040"/>
                </a:solidFill>
                <a:latin typeface="Consolas"/>
              </a:rPr>
              <a:t>px</a:t>
            </a:r>
            <a:r>
              <a:rPr b="0" i="0">
                <a:latin typeface="Consolas"/>
              </a:rPr>
              <a:t>;</a:t>
            </a:r>
            <a:br/>
            <a:r>
              <a:rPr b="0" i="0">
                <a:latin typeface="Consolas"/>
              </a:rPr>
              <a:t>  </a:t>
            </a:r>
            <a:r>
              <a:rPr b="1" i="0">
                <a:solidFill>
                  <a:srgbClr val="008000"/>
                </a:solidFill>
                <a:latin typeface="Consolas"/>
              </a:rPr>
              <a:t>color</a:t>
            </a:r>
            <a:r>
              <a:rPr b="0" i="0">
                <a:latin typeface="Consolas"/>
              </a:rPr>
              <a:t>: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666666"/>
                </a:solidFill>
                <a:latin typeface="Consolas"/>
              </a:rPr>
              <a:t>#10263f</a:t>
            </a:r>
            <a:r>
              <a:rPr b="0" i="0">
                <a:latin typeface="Consolas"/>
              </a:rPr>
              <a:t>;</a:t>
            </a:r>
            <a:br/>
            <a:r>
              <a:rPr b="0" i="0">
                <a:latin typeface="Consolas"/>
              </a:rPr>
              <a:t>  </a:t>
            </a:r>
            <a:r>
              <a:rPr b="1" i="0">
                <a:solidFill>
                  <a:srgbClr val="008000"/>
                </a:solidFill>
                <a:latin typeface="Consolas"/>
              </a:rPr>
              <a:t>background</a:t>
            </a:r>
            <a:r>
              <a:rPr b="0" i="0">
                <a:latin typeface="Consolas"/>
              </a:rPr>
              <a:t>: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666666"/>
                </a:solidFill>
                <a:latin typeface="Consolas"/>
              </a:rPr>
              <a:t>#eef8ff</a:t>
            </a:r>
            <a:r>
              <a:rPr b="0" i="0">
                <a:latin typeface="Consolas"/>
              </a:rPr>
              <a:t>;</a:t>
            </a:r>
            <a:br/>
            <a:r>
              <a:rPr b="0" i="0">
                <a:latin typeface="Consolas"/>
              </a:rPr>
              <a:t>}</a:t>
            </a:r>
            <a:br/>
            <a:br/>
            <a:r>
              <a:rPr b="0" i="0">
                <a:latin typeface="Consolas"/>
              </a:rPr>
              <a:t>.</a:t>
            </a:r>
            <a:r>
              <a:rPr b="1" i="0">
                <a:solidFill>
                  <a:srgbClr val="0000FF"/>
                </a:solidFill>
                <a:latin typeface="Consolas"/>
              </a:rPr>
              <a:t>project-card</a:t>
            </a:r>
            <a:r>
              <a:rPr b="0" i="0">
                <a:latin typeface="Consolas"/>
              </a:rPr>
              <a:t> </a:t>
            </a:r>
            <a:r>
              <a:rPr b="1" i="0">
                <a:solidFill>
                  <a:srgbClr val="008000"/>
                </a:solidFill>
                <a:latin typeface="Consolas"/>
              </a:rPr>
              <a:t>a</a:t>
            </a:r>
            <a:r>
              <a:rPr b="0" i="0">
                <a:latin typeface="Consolas"/>
              </a:rPr>
              <a:t>:</a:t>
            </a:r>
            <a:r>
              <a:rPr b="0" i="0">
                <a:solidFill>
                  <a:srgbClr val="AA22FF"/>
                </a:solidFill>
                <a:latin typeface="Consolas"/>
              </a:rPr>
              <a:t>hover</a:t>
            </a:r>
            <a:r>
              <a:rPr b="0" i="0">
                <a:latin typeface="Consolas"/>
              </a:rPr>
              <a:t> </a:t>
            </a:r>
            <a:r>
              <a:rPr b="0" i="0">
                <a:latin typeface="Consolas"/>
              </a:rPr>
              <a:t>{</a:t>
            </a:r>
            <a:r>
              <a:rPr b="0" i="0">
                <a:latin typeface="Consolas"/>
              </a:rPr>
              <a:t> </a:t>
            </a:r>
            <a:r>
              <a:rPr b="1" i="0">
                <a:solidFill>
                  <a:srgbClr val="008000"/>
                </a:solidFill>
                <a:latin typeface="Consolas"/>
              </a:rPr>
              <a:t>color</a:t>
            </a:r>
            <a:r>
              <a:rPr b="0" i="0">
                <a:latin typeface="Consolas"/>
              </a:rPr>
              <a:t>: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666666"/>
                </a:solidFill>
                <a:latin typeface="Consolas"/>
              </a:rPr>
              <a:t>#1d6fa8</a:t>
            </a:r>
            <a:r>
              <a:rPr b="0" i="0">
                <a:latin typeface="Consolas"/>
              </a:rPr>
              <a:t>;</a:t>
            </a:r>
            <a:r>
              <a:rPr b="0" i="0">
                <a:latin typeface="Consolas"/>
              </a:rPr>
              <a:t> </a:t>
            </a:r>
            <a:r>
              <a:rPr b="0" i="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Table column alignment</a:t>
            </a:r>
          </a:p>
        </p:txBody>
      </p:sp>
      <p:graphicFrame>
        <p:nvGraphicFramePr>
          <p:cNvPr id="4" name="MarkdownSlidesTable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t>Region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t>Status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t>Revenue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t>North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t>Complete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t>$50,000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t>South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t>Planned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t>$40,000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Local image</a:t>
            </a:r>
          </a:p>
        </p:txBody>
      </p:sp>
      <p:pic>
        <p:nvPicPr>
          <p:cNvPr id="4" name="MarkdownSlidesImage" descr="Local markdown-pptx sample image" title="Showcase image">
            <a:hlinkClick r:id="rId3"/>
          </p:cNvPr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Remote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A remote image stays editable. Downloading it requires an internet connection.</a:t>
            </a:r>
          </a:p>
        </p:txBody>
      </p:sp>
      <p:pic>
        <p:nvPicPr>
          <p:cNvPr id="5" name="MarkdownSlidesImage" descr="Remote Python logo"/>
          <p:cNvPicPr>
            <a:picLocks noChangeAspect="1"/>
          </p:cNvPicPr>
          <p:nvPr>
            <p:ph idx="2" sz="half"/>
          </p:nvPr>
        </p:nvPicPr>
        <p:blipFill>
          <a:blip r:embed="rId2"/>
          <a:stretch>
            <a:fillRect/>
          </a:stretch>
        </p:blipFill>
        <p:spPr>
          <a:xfrm>
            <a:off x="6587331" y="1825625"/>
            <a:ext cx="4351338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YouTube video: Big Buck Bunny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</a:pPr>
            <a:r>
              <a:rPr sz="3700" b="1" i="0">
                <a:latin typeface="+mj-lt"/>
                <a:ea typeface="+mj-ea"/>
                <a:cs typeface="+mj-cs"/>
              </a:rPr>
              <a:t>Online playback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The video on the right is linked to YouTube.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Click the video to play the full film in PowerPoint. Playback requires internet access.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Big Buck Bunny is copyright 2008, Blender Foundation. Licensed under Creative Commons Attribution 3.0.</a:t>
            </a:r>
          </a:p>
        </p:txBody>
      </p:sp>
      <p:pic>
        <p:nvPicPr>
          <p:cNvPr id="5" name="MarkdownSlidesYouTubeVideo" descr="image.png">
            <a:hlinkClick action="ppaction://media" r:id=""/>
          </p:cNvPr>
          <p:cNvPicPr>
            <a:picLocks noChangeAspect="1"/>
          </p:cNvPicPr>
          <p:nvPr>
            <p:ph idx="2" sz="half"/>
            <a:videoFile r:link="rId3"/>
          </p:nvPr>
        </p:nvPicPr>
        <p:blipFill>
          <a:blip r:embed="rId2"/>
          <a:stretch>
            <a:fillRect/>
          </a:stretch>
        </p:blipFill>
        <p:spPr>
          <a:xfrm>
            <a:off x="6172200" y="1825625"/>
            <a:ext cx="5181600" cy="2914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An empty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An empty H1 with no body creates a Blank slide. The next slide demonstrates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Two content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</a:pPr>
            <a:r>
              <a:rPr sz="3700" b="1" i="0">
                <a:latin typeface="+mj-lt"/>
                <a:ea typeface="+mj-ea"/>
                <a:cs typeface="+mj-cs"/>
              </a:rPr>
              <a:t>First option</a:t>
            </a:r>
          </a:p>
          <a:p>
            <a:pPr marL="411480" indent="-201168"/>
            <a:r>
              <a:rPr b="0" i="0">
                <a:latin typeface="+mn-lt"/>
                <a:ea typeface="+mn-ea"/>
                <a:cs typeface="+mn-cs"/>
              </a:rPr>
              <a:t>Small initial scope</a:t>
            </a:r>
          </a:p>
          <a:p>
            <a:pPr marL="411480" indent="-201168"/>
            <a:r>
              <a:rPr b="0" i="0">
                <a:latin typeface="+mn-lt"/>
                <a:ea typeface="+mn-ea"/>
                <a:cs typeface="+mn-cs"/>
              </a:rPr>
              <a:t>Quick feedback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</a:pPr>
            <a:r>
              <a:rPr sz="3700" b="1" i="0">
                <a:latin typeface="+mj-lt"/>
                <a:ea typeface="+mj-ea"/>
                <a:cs typeface="+mj-cs"/>
              </a:rPr>
              <a:t>Second option</a:t>
            </a:r>
          </a:p>
          <a:p>
            <a:pPr marL="411480" indent="-201168"/>
            <a:r>
              <a:rPr b="0" i="0">
                <a:latin typeface="+mn-lt"/>
                <a:ea typeface="+mn-ea"/>
                <a:cs typeface="+mn-cs"/>
              </a:rPr>
              <a:t>Broader initial scope</a:t>
            </a:r>
          </a:p>
          <a:p>
            <a:pPr marL="411480" indent="-201168"/>
            <a:r>
              <a:rPr b="0" i="0">
                <a:latin typeface="+mn-lt"/>
                <a:ea typeface="+mn-ea"/>
                <a:cs typeface="+mn-cs"/>
              </a:rPr>
              <a:t>More preparation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Text beside a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</a:pPr>
            <a:r>
              <a:rPr sz="3700" b="1" i="0">
                <a:latin typeface="+mj-lt"/>
                <a:ea typeface="+mj-ea"/>
                <a:cs typeface="+mj-cs"/>
              </a:rPr>
              <a:t>Progress</a:t>
            </a:r>
          </a:p>
          <a:p>
            <a:pPr marL="0" indent="0">
              <a:buNone/>
            </a:pPr>
            <a:r>
              <a:rPr b="0" i="0">
                <a:latin typeface="+mn-lt"/>
                <a:ea typeface="+mn-ea"/>
                <a:cs typeface="+mn-cs"/>
              </a:rPr>
              <a:t>☑ </a:t>
            </a:r>
            <a:r>
              <a:rPr b="0" i="0">
                <a:latin typeface="+mn-lt"/>
                <a:ea typeface="+mn-ea"/>
                <a:cs typeface="+mn-cs"/>
              </a:rPr>
              <a:t>Design agreed</a:t>
            </a:r>
          </a:p>
          <a:p>
            <a:pPr marL="0" indent="0">
              <a:buNone/>
            </a:pPr>
            <a:r>
              <a:rPr b="0" i="0">
                <a:latin typeface="+mn-lt"/>
                <a:ea typeface="+mn-ea"/>
                <a:cs typeface="+mn-cs"/>
              </a:rPr>
              <a:t>☐ </a:t>
            </a:r>
            <a:r>
              <a:rPr b="0" i="0">
                <a:latin typeface="+mn-lt"/>
                <a:ea typeface="+mn-ea"/>
                <a:cs typeface="+mn-cs"/>
              </a:rPr>
              <a:t>Delivery scheduled</a:t>
            </a:r>
          </a:p>
        </p:txBody>
      </p:sp>
      <p:graphicFrame>
        <p:nvGraphicFramePr>
          <p:cNvPr id="5" name="MarkdownSlidesTable"/>
          <p:cNvGraphicFramePr>
            <a:graphicFrameLocks noGrp="1"/>
          </p:cNvGraphicFramePr>
          <p:nvPr>
            <p:ph idx="2" sz="half"/>
          </p:nvPr>
        </p:nvGraphicFramePr>
        <p:xfrm>
          <a:off x="6172200" y="1825625"/>
          <a:ext cx="5181600" cy="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590800"/>
                <a:gridCol w="2590800"/>
              </a:tblGrid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t>Milestone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t>Status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t>Design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t>Complete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t>Delivery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t>Planned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hlinkClick r:id="rId2" tooltip="Read the markdown-pptx guide"/>
              </a:rPr>
              <a:t>Shared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Read the </a:t>
            </a:r>
            <a:r>
              <a:rPr b="0" i="0">
                <a:latin typeface="+mn-lt"/>
                <a:ea typeface="+mn-ea"/>
                <a:cs typeface="+mn-cs"/>
                <a:hlinkClick r:id="rId2" tooltip="Read the markdown-pptx guide"/>
              </a:rPr>
              <a:t>project guide</a:t>
            </a:r>
            <a:r>
              <a:rPr b="0" i="0">
                <a:latin typeface="+mn-lt"/>
                <a:ea typeface="+mn-ea"/>
                <a:cs typeface="+mn-cs"/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The same definition can supply links throughout the deck.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1" i="0">
                <a:latin typeface="+mn-lt"/>
                <a:ea typeface="+mn-ea"/>
                <a:cs typeface="+mn-cs"/>
                <a:hlinkClick r:id="rId2" tooltip="Open the markdown-pptx project"/>
              </a:rPr>
              <a:t>Formatted</a:t>
            </a:r>
            <a:r>
              <a:rPr b="0" i="0">
                <a:latin typeface="+mn-lt"/>
                <a:ea typeface="+mn-ea"/>
                <a:cs typeface="+mn-cs"/>
                <a:hlinkClick r:id="rId2" tooltip="Open the markdown-pptx project"/>
              </a:rPr>
              <a:t> </a:t>
            </a:r>
            <a:r>
              <a:rPr b="0" i="1">
                <a:latin typeface="+mn-lt"/>
                <a:ea typeface="+mn-ea"/>
                <a:cs typeface="+mn-cs"/>
                <a:hlinkClick r:id="rId2" tooltip="Open the markdown-pptx project"/>
              </a:rPr>
              <a:t>links</a:t>
            </a:r>
            <a:r>
              <a:rPr b="0" i="0">
                <a:latin typeface="+mn-lt"/>
                <a:ea typeface="+mn-ea"/>
                <a:cs typeface="+mn-cs"/>
              </a:rPr>
              <a:t> retain their ScreenTips.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Code stays inside its list item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576072" indent="-365760">
              <a:buAutoNum type="arabicPeriod" startAt="1"/>
            </a:pPr>
            <a:r>
              <a:rPr b="0" i="0">
                <a:latin typeface="+mn-lt"/>
                <a:ea typeface="+mn-ea"/>
                <a:cs typeface="+mn-cs"/>
              </a:rPr>
              <a:t>Run the check</a:t>
            </a:r>
          </a:p>
          <a:p>
            <a:pPr marL="576072" indent="0">
              <a:buNone/>
            </a:pPr>
            <a:r>
              <a:rPr b="0" i="0">
                <a:latin typeface="Consolas"/>
              </a:rPr>
              <a:t>status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666666"/>
                </a:solidFill>
                <a:latin typeface="Consolas"/>
              </a:rPr>
              <a:t>=</a:t>
            </a:r>
            <a:r>
              <a:rPr b="0" i="0">
                <a:latin typeface="Consolas"/>
              </a:rPr>
              <a:t> </a:t>
            </a:r>
            <a:r>
              <a:rPr b="0" i="0">
                <a:solidFill>
                  <a:srgbClr val="BA2121"/>
                </a:solidFill>
                <a:latin typeface="Consolas"/>
              </a:rPr>
              <a:t>"</a:t>
            </a:r>
            <a:r>
              <a:rPr b="0" i="0">
                <a:solidFill>
                  <a:srgbClr val="BA2121"/>
                </a:solidFill>
                <a:latin typeface="Consolas"/>
              </a:rPr>
              <a:t>Ready</a:t>
            </a:r>
            <a:r>
              <a:rPr b="0" i="0">
                <a:solidFill>
                  <a:srgbClr val="BA2121"/>
                </a:solidFill>
                <a:latin typeface="Consolas"/>
              </a:rPr>
              <a:t>"</a:t>
            </a:r>
            <a:br/>
            <a:r>
              <a:rPr b="0" i="0">
                <a:solidFill>
                  <a:srgbClr val="008000"/>
                </a:solidFill>
                <a:latin typeface="Consolas"/>
              </a:rPr>
              <a:t>print</a:t>
            </a:r>
            <a:r>
              <a:rPr b="0" i="0">
                <a:latin typeface="Consolas"/>
              </a:rPr>
              <a:t>(</a:t>
            </a:r>
            <a:r>
              <a:rPr b="0" i="0">
                <a:latin typeface="Consolas"/>
              </a:rPr>
              <a:t>status</a:t>
            </a:r>
            <a:r>
              <a:rPr b="0" i="0">
                <a:latin typeface="Consolas"/>
              </a:rPr>
              <a:t>)</a:t>
            </a:r>
          </a:p>
          <a:p>
            <a:pPr marL="576072" indent="0">
              <a:buNone/>
            </a:pPr>
            <a:r>
              <a:rPr sz="3700" b="1" i="0">
                <a:latin typeface="+mj-lt"/>
                <a:ea typeface="+mj-ea"/>
                <a:cs typeface="+mj-cs"/>
              </a:rPr>
              <a:t>Result</a:t>
            </a:r>
          </a:p>
          <a:p>
            <a:pPr marL="576072" indent="0">
              <a:buNone/>
            </a:pPr>
            <a:r>
              <a:rPr b="0" i="0">
                <a:latin typeface="+mn-lt"/>
                <a:ea typeface="+mn-ea"/>
                <a:cs typeface="+mn-cs"/>
              </a:rPr>
              <a:t>Continue after checking the output.</a:t>
            </a:r>
          </a:p>
          <a:p>
            <a:pPr marL="576072" indent="-365760">
              <a:buAutoNum type="arabicPeriod" startAt="2"/>
            </a:pPr>
            <a:r>
              <a:rPr b="0" i="0">
                <a:latin typeface="+mn-lt"/>
                <a:ea typeface="+mn-ea"/>
                <a:cs typeface="+mn-cs"/>
              </a:rPr>
              <a:t>Present the result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Numbering and reusable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576072" indent="-365760">
              <a:buNone/>
            </a:pPr>
            <a:r>
              <a:rPr b="0" i="0">
                <a:latin typeface="+mn-lt"/>
                <a:ea typeface="+mn-ea"/>
                <a:cs typeface="+mn-cs"/>
              </a:rPr>
              <a:t>0. </a:t>
            </a:r>
            <a:r>
              <a:rPr b="0" i="0">
                <a:latin typeface="+mn-lt"/>
                <a:ea typeface="+mn-ea"/>
                <a:cs typeface="+mn-cs"/>
              </a:rPr>
              <a:t>Prepare the content</a:t>
            </a:r>
          </a:p>
          <a:p>
            <a:pPr marL="576072" indent="-365760">
              <a:buAutoNum type="arabicPeriod" startAt="1"/>
            </a:pPr>
            <a:r>
              <a:rPr b="0" i="0">
                <a:latin typeface="+mn-lt"/>
                <a:ea typeface="+mn-ea"/>
                <a:cs typeface="+mn-cs"/>
              </a:rPr>
              <a:t>Render the presentation</a:t>
            </a:r>
          </a:p>
          <a:p>
            <a:pPr marL="576072" indent="-365760">
              <a:buAutoNum type="arabicPeriod" startAt="2"/>
            </a:pPr>
            <a:r>
              <a:rPr b="0" i="0">
                <a:latin typeface="+mn-lt"/>
                <a:ea typeface="+mn-ea"/>
                <a:cs typeface="+mn-cs"/>
              </a:rPr>
              <a:t>Review in PowerPoint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Return to the </a:t>
            </a:r>
            <a:r>
              <a:rPr b="0" i="0">
                <a:latin typeface="+mn-lt"/>
                <a:ea typeface="+mn-ea"/>
                <a:cs typeface="+mn-cs"/>
                <a:hlinkClick r:id="rId2" tooltip="Read the markdown-pptx guide"/>
              </a:rPr>
              <a:t>project guide</a:t>
            </a:r>
            <a:r>
              <a:rPr b="0" i="0">
                <a:latin typeface="+mn-lt"/>
                <a:ea typeface="+mn-ea"/>
                <a:cs typeface="+mn-cs"/>
              </a:rPr>
              <a:t> for more examples.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Pipe table</a:t>
            </a:r>
          </a:p>
        </p:txBody>
      </p:sp>
      <p:graphicFrame>
        <p:nvGraphicFramePr>
          <p:cNvPr id="4" name="MarkdownSlidesTable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5257800"/>
                <a:gridCol w="5257800"/>
              </a:tblGrid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t>Markdown input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t>PowerPoint result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>
                          <a:latin typeface="Consolas"/>
                        </a:rPr>
                        <a:t># H1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t>New slide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>
                          <a:latin typeface="Consolas"/>
                        </a:rPr>
                        <a:t>layout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t>Real slide layout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>
                          <a:latin typeface="Consolas"/>
                        </a:rPr>
                        <a:t>master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t>Master-specific layout group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>
                          <a:latin typeface="Consolas"/>
                        </a:rPr>
                        <a:t>notes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t>Editable speaker notes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t>All six native table-style flags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Video without metadata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The local clip uses its first decoded frame as its poster. Playback starts on click.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Big Buck Bunny is copyright 2008, Blender Foundation. Licensed under Creative Commons Attribution 3.0.</a:t>
            </a:r>
          </a:p>
        </p:txBody>
      </p:sp>
      <p:pic>
        <p:nvPicPr>
          <p:cNvPr id="5" name="MarkdownSlidesVideo">
            <a:hlinkClick r:id="" action="ppaction://media"/>
          </p:cNvPr>
          <p:cNvPicPr>
            <a:picLocks noChangeAspect="1"/>
          </p:cNvPicPr>
          <p:nvPr>
            <p:ph idx="2" sz="half"/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172200" y="1825625"/>
            <a:ext cx="5181600" cy="2912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 linked image supplies a video poster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A linked image pointing to an MP4 becomes its poster.</a:t>
            </a:r>
          </a:p>
        </p:txBody>
      </p:sp>
      <p:pic>
        <p:nvPicPr>
          <p:cNvPr id="5" name="MarkdownSlidesVideo">
            <a:hlinkClick r:id="" action="ppaction://media"/>
          </p:cNvPr>
          <p:cNvPicPr>
            <a:picLocks noChangeAspect="1"/>
          </p:cNvPicPr>
          <p:nvPr>
            <p:ph idx="2" sz="half"/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172200" y="1825625"/>
            <a:ext cx="5181600" cy="2912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Setext H2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</a:pPr>
            <a:r>
              <a:rPr sz="3700" b="1" i="0">
                <a:latin typeface="+mj-lt"/>
                <a:ea typeface="+mj-ea"/>
                <a:cs typeface="+mj-cs"/>
              </a:rPr>
              <a:t>A smaller heading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A hyphen underline creates an H2. A blank line before a horizontal rule makes the rule a content separator.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Both hard-break spellings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This line ends with two spaces.</a:t>
            </a:r>
            <a:br/>
            <a:r>
              <a:rPr b="0" i="0">
                <a:latin typeface="+mn-lt"/>
                <a:ea typeface="+mn-ea"/>
                <a:cs typeface="+mn-cs"/>
              </a:rPr>
              <a:t>The next line stays in the paragraph.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This line ends with a backslash.</a:t>
            </a:r>
            <a:br/>
            <a:r>
              <a:rPr b="0" i="0">
                <a:latin typeface="+mn-lt"/>
                <a:ea typeface="+mn-ea"/>
                <a:cs typeface="+mn-cs"/>
              </a:rPr>
              <a:t>The next line also stays in its paragraph.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Indented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Code can be indented instead of fenced:</a:t>
            </a:r>
          </a:p>
          <a:p>
            <a:pPr marL="0" indent="0">
              <a:buNone/>
            </a:pPr>
            <a:r>
              <a:rPr b="0" i="0">
                <a:latin typeface="Consolas"/>
              </a:rPr>
              <a:t>status = 'Ready'</a:t>
            </a:r>
            <a:br/>
            <a:r>
              <a:rPr b="0" i="0">
                <a:latin typeface="Consolas"/>
              </a:rPr>
              <a:t>print(status)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Escapes and ordinary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Escaped markers stay literal: *asterisks* and _underscores_.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Inline </a:t>
            </a:r>
            <a:r>
              <a:rPr b="0" i="0">
                <a:latin typeface="+mn-lt"/>
                <a:ea typeface="+mn-ea"/>
                <a:cs typeface="+mn-cs"/>
              </a:rPr>
              <a:t>HTML contributes its text</a:t>
            </a:r>
            <a:r>
              <a:rPr b="0" i="0">
                <a:latin typeface="+mn-lt"/>
                <a:ea typeface="+mn-ea"/>
                <a:cs typeface="+mn-cs"/>
              </a:rPr>
              <a:t>. The tags add no PowerPoint formatting.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The comment above contributes no visible content.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Starting numbers and empty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576072" indent="-365760">
              <a:buAutoNum type="arabicPeriod" startAt="5"/>
            </a:pPr>
            <a:r>
              <a:rPr b="0" i="0">
                <a:latin typeface="+mn-lt"/>
                <a:ea typeface="+mn-ea"/>
                <a:cs typeface="+mn-cs"/>
              </a:rPr>
              <a:t>Begin at five</a:t>
            </a:r>
          </a:p>
          <a:p>
            <a:pPr marL="576072" indent="-365760">
              <a:buAutoNum type="arabicPeriod" startAt="6"/>
            </a:pPr>
            <a:r>
              <a:rPr b="0" i="0">
                <a:latin typeface="+mn-lt"/>
                <a:ea typeface="+mn-ea"/>
                <a:cs typeface="+mn-cs"/>
              </a:rPr>
              <a:t>Continue at six</a:t>
            </a:r>
          </a:p>
          <a:p>
            <a:pPr marL="411480" indent="-201168"/>
            <a:r>
              <a:rPr b="0" i="0">
                <a:latin typeface="+mn-lt"/>
                <a:ea typeface="+mn-ea"/>
                <a:cs typeface="+mn-cs"/>
              </a:rPr>
              <a:t>A visible item</a:t>
            </a:r>
          </a:p>
          <a:p>
            <a:pPr marL="411480" indent="-201168"/>
            <a:r>
              <a:t/>
            </a:r>
          </a:p>
          <a:p>
            <a:pPr marL="411480" indent="-201168"/>
            <a:r>
              <a:rPr b="0" i="0">
                <a:latin typeface="+mn-lt"/>
                <a:ea typeface="+mn-ea"/>
                <a:cs typeface="+mn-cs"/>
              </a:rPr>
              <a:t>Another visible item</a:t>
            </a:r>
          </a:p>
          <a:p>
            <a:pPr marL="1161288" indent="-950976">
              <a:buNone/>
            </a:pPr>
            <a:r>
              <a:rPr b="0" i="0">
                <a:latin typeface="+mn-lt"/>
                <a:ea typeface="+mn-ea"/>
                <a:cs typeface="+mn-cs"/>
              </a:rPr>
              <a:t>32768. </a:t>
            </a:r>
            <a:r>
              <a:rPr b="0" i="0">
                <a:latin typeface="+mn-lt"/>
                <a:ea typeface="+mn-ea"/>
                <a:cs typeface="+mn-cs"/>
              </a:rPr>
              <a:t>Values beyond native numbering stay editable text</a:t>
            </a:r>
          </a:p>
          <a:p>
            <a:pPr marL="1161288" indent="-950976">
              <a:buNone/>
            </a:pPr>
            <a:r>
              <a:rPr b="0" i="0">
                <a:latin typeface="+mn-lt"/>
                <a:ea typeface="+mn-ea"/>
                <a:cs typeface="+mn-cs"/>
              </a:rPr>
              <a:t>32769. </a:t>
            </a:r>
            <a:r>
              <a:rPr b="0" i="0">
                <a:latin typeface="+mn-lt"/>
                <a:ea typeface="+mn-ea"/>
                <a:cs typeface="+mn-cs"/>
              </a:rPr>
              <a:t>The sequence continues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Reference image forms</a:t>
            </a:r>
          </a:p>
        </p:txBody>
      </p:sp>
      <p:pic>
        <p:nvPicPr>
          <p:cNvPr id="5" name="MarkdownSlidesImage" descr="Full image reference" title="Shared picture title"/>
          <p:cNvPicPr>
            <a:picLocks noChangeAspect="1"/>
          </p:cNvPicPr>
          <p:nvPr>
            <p:ph idx="1" sz="half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5181600" cy="2914650"/>
          </a:xfrm>
          <a:prstGeom prst="rect">
            <a:avLst/>
          </a:prstGeom>
        </p:spPr>
      </p:pic>
      <p:pic>
        <p:nvPicPr>
          <p:cNvPr id="6" name="MarkdownSlidesImage" descr="local-photo" title="Shared picture title"/>
          <p:cNvPicPr>
            <a:picLocks noChangeAspect="1"/>
          </p:cNvPicPr>
          <p:nvPr>
            <p:ph idx="2" sz="half"/>
          </p:nvPr>
        </p:nvPicPr>
        <p:blipFill>
          <a:blip r:embed="rId2"/>
          <a:stretch>
            <a:fillRect/>
          </a:stretch>
        </p:blipFill>
        <p:spPr>
          <a:xfrm>
            <a:off x="6172200" y="1825625"/>
            <a:ext cx="5181600" cy="291465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Shortcut image reference</a:t>
            </a:r>
          </a:p>
        </p:txBody>
      </p:sp>
      <p:pic>
        <p:nvPicPr>
          <p:cNvPr id="4" name="MarkdownSlidesImage" descr="local-photo" title="Shared picture title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Collapsed and shortcut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Read the </a:t>
            </a:r>
            <a:r>
              <a:rPr b="0" i="0">
                <a:latin typeface="+mn-lt"/>
                <a:ea typeface="+mn-ea"/>
                <a:cs typeface="+mn-cs"/>
                <a:hlinkClick r:id="rId2" tooltip="Read the markdown-pptx guide"/>
              </a:rPr>
              <a:t>showcase-guide</a:t>
            </a:r>
            <a:r>
              <a:rPr b="0" i="0">
                <a:latin typeface="+mn-lt"/>
                <a:ea typeface="+mn-ea"/>
                <a:cs typeface="+mn-cs"/>
              </a:rPr>
              <a:t> and revisit </a:t>
            </a:r>
            <a:r>
              <a:rPr b="0" i="0">
                <a:latin typeface="+mn-lt"/>
                <a:ea typeface="+mn-ea"/>
                <a:cs typeface="+mn-cs"/>
                <a:hlinkClick r:id="rId2" tooltip="Read the markdown-pptx guide"/>
              </a:rPr>
              <a:t>showcase-guide</a:t>
            </a:r>
            <a:r>
              <a:rPr b="0" i="0">
                <a:latin typeface="+mn-lt"/>
                <a:ea typeface="+mn-ea"/>
                <a:cs typeface="+mn-cs"/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The first definition of a reference wins. Reference labels ignore case.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 table can escape pipes</a:t>
            </a:r>
          </a:p>
        </p:txBody>
      </p:sp>
      <p:graphicFrame>
        <p:nvGraphicFramePr>
          <p:cNvPr id="4" name="MarkdownSlidesTable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5257800"/>
                <a:gridCol w="5257800"/>
              </a:tblGrid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t>Expression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t>Meaning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>
                          <a:latin typeface="Consolas"/>
                        </a:rPr>
                        <a:t>a|b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t>Either a or b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t>a|b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t>A literal pipe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Linked picture titles</a:t>
            </a:r>
          </a:p>
        </p:txBody>
      </p:sp>
      <p:pic>
        <p:nvPicPr>
          <p:cNvPr id="4" name="MarkdownSlidesImage" descr="Picture description" title="Picture title">
            <a:hlinkClick r:id="rId3" tooltip="Link ScreenTip"/>
          </p:cNvPr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Markdown in. Editable PowerPoint out.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Run </a:t>
            </a:r>
            <a:r>
              <a:rPr b="0" i="0">
                <a:latin typeface="Consolas"/>
              </a:rPr>
              <a:t>uvx markdown-pptx default-showcase.md</a:t>
            </a:r>
            <a:r>
              <a:rPr b="0" i="0">
                <a:latin typeface="+mn-lt"/>
                <a:ea typeface="+mn-ea"/>
                <a:cs typeface="+mn-cs"/>
              </a:rPr>
              <a:t> to render this source with the packaged template.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Other horizontal-rule spellings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A hyphen rule surrounded by blank lines creates two content areas.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An underscore rule works the same way on the next slide.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Two tables without metadata</a:t>
            </a:r>
          </a:p>
        </p:txBody>
      </p:sp>
      <p:graphicFrame>
        <p:nvGraphicFramePr>
          <p:cNvPr id="5" name="MarkdownSlidesTable"/>
          <p:cNvGraphicFramePr>
            <a:graphicFrameLocks noGrp="1"/>
          </p:cNvGraphicFramePr>
          <p:nvPr>
            <p:ph idx="1" sz="half"/>
          </p:nvPr>
        </p:nvGraphicFramePr>
        <p:xfrm>
          <a:off x="838200" y="1825625"/>
          <a:ext cx="5181600" cy="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590800"/>
                <a:gridCol w="2590800"/>
              </a:tblGrid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t>Choice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t>Cost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t>Small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t>10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6" name="MarkdownSlidesTable"/>
          <p:cNvGraphicFramePr>
            <a:graphicFrameLocks noGrp="1"/>
          </p:cNvGraphicFramePr>
          <p:nvPr>
            <p:ph idx="2" sz="half"/>
          </p:nvPr>
        </p:nvGraphicFramePr>
        <p:xfrm>
          <a:off x="6172200" y="1825625"/>
          <a:ext cx="5181600" cy="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590800"/>
                <a:gridCol w="2590800"/>
              </a:tblGrid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t>Choice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t>Cost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t>Large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t>20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Tilde fences and automatic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</a:pPr>
            <a:r>
              <a:rPr b="0" i="0">
                <a:latin typeface="Consolas"/>
              </a:rPr>
              <a:t># This is literal code, not a new slide</a:t>
            </a:r>
            <a:br/>
            <a:r>
              <a:rPr b="0" i="0">
                <a:latin typeface="Consolas"/>
              </a:rPr>
              <a:t>***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i="0">
                <a:latin typeface="+mn-lt"/>
                <a:ea typeface="+mn-ea"/>
                <a:cs typeface="+mn-cs"/>
              </a:rPr>
              <a:t>An angle-bracket link works too: </a:t>
            </a:r>
            <a:r>
              <a:rPr b="0" i="0">
                <a:latin typeface="+mn-lt"/>
                <a:ea typeface="+mn-ea"/>
                <a:cs typeface="+mn-cs"/>
                <a:hlinkClick r:id="rId2"/>
              </a:rPr>
              <a:t>https://github.com/pseudosavant/markdown-pptx</a:t>
            </a:r>
            <a:r>
              <a:rPr b="0" i="0">
                <a:latin typeface="+mn-lt"/>
                <a:ea typeface="+mn-ea"/>
                <a:cs typeface="+mn-cs"/>
              </a:rPr>
              <a:t>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Mixed nested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576072" indent="-365760">
              <a:buAutoNum type="arabicPeriod" startAt="1"/>
            </a:pPr>
            <a:r>
              <a:rPr b="0" i="0">
                <a:latin typeface="+mn-lt"/>
                <a:ea typeface="+mn-ea"/>
                <a:cs typeface="+mn-cs"/>
              </a:rPr>
              <a:t>Plan the presentation</a:t>
            </a:r>
          </a:p>
          <a:p>
            <a:pPr lvl="1" marL="822960" indent="-201168"/>
            <a:r>
              <a:rPr b="0" i="0">
                <a:latin typeface="+mn-lt"/>
                <a:ea typeface="+mn-ea"/>
                <a:cs typeface="+mn-cs"/>
              </a:rPr>
              <a:t>Write the source</a:t>
            </a:r>
          </a:p>
          <a:p>
            <a:pPr lvl="2" marL="1399032" indent="-365760">
              <a:buAutoNum type="arabicPeriod" startAt="1"/>
            </a:pPr>
            <a:r>
              <a:rPr b="0" i="0">
                <a:latin typeface="+mn-lt"/>
                <a:ea typeface="+mn-ea"/>
                <a:cs typeface="+mn-cs"/>
              </a:rPr>
              <a:t>Review the main point</a:t>
            </a:r>
          </a:p>
          <a:p>
            <a:pPr marL="576072" indent="-365760">
              <a:buAutoNum type="arabicPeriod" startAt="2"/>
            </a:pPr>
            <a:r>
              <a:rPr b="0" i="0">
                <a:latin typeface="+mn-lt"/>
                <a:ea typeface="+mn-ea"/>
                <a:cs typeface="+mn-cs"/>
              </a:rPr>
              <a:t>Render the slides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 section from H1 alone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 section with a subtitle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  <a:defRPr>
                <a:solidFill>
                  <a:schemeClr val="dk1"/>
                </a:solidFill>
              </a:defRPr>
            </a:pPr>
            <a:r>
              <a:rPr>
                <a:solidFill>
                  <a:schemeClr val="dk1"/>
                </a:solidFill>
              </a:rPr>
              <a:t>Native layout from ordinary headings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Multiple H2s remain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buNone/>
            </a:pPr>
            <a:r>
              <a:rPr sz="3700" b="1" i="0">
                <a:latin typeface="+mj-lt"/>
                <a:ea typeface="+mj-ea"/>
                <a:cs typeface="+mj-cs"/>
              </a:rPr>
              <a:t>First content heading</a:t>
            </a:r>
          </a:p>
          <a:p>
            <a:pPr marL="0" indent="0">
              <a:buNone/>
            </a:pPr>
            <a:r>
              <a:rPr sz="3700" b="1" i="0">
                <a:latin typeface="+mj-lt"/>
                <a:ea typeface="+mj-ea"/>
                <a:cs typeface="+mj-cs"/>
              </a:rPr>
              <a:t>Second content heading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Rich table cells</a:t>
            </a:r>
          </a:p>
        </p:txBody>
      </p:sp>
      <p:graphicFrame>
        <p:nvGraphicFramePr>
          <p:cNvPr id="4" name="MarkdownSlidesTable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5257800"/>
                <a:gridCol w="5257800"/>
              </a:tblGrid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t>Kind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t>Example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t>Emphasis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/>
                        <a:t>Bold</a:t>
                      </a:r>
                      <a:r>
                        <a:t> and </a:t>
                      </a:r>
                      <a:r>
                        <a:rPr i="1"/>
                        <a:t>italic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t>Code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>
                          <a:latin typeface="Consolas"/>
                        </a:rPr>
                        <a:t>status = 'Ready'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t>Strike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trike="sngStrike"/>
                        <a:t>Removed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t>Baselines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t>Water is H</a:t>
                      </a:r>
                      <a:r>
                        <a:rPr baseline="-25000"/>
                        <a:t>2</a:t>
                      </a:r>
                      <a:r>
                        <a:t>O, area is x</a:t>
                      </a:r>
                      <a:r>
                        <a:rPr baseline="30000"/>
                        <a:t>2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t>Links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>
                          <a:hlinkClick r:id="rId2" tooltip="Read the markdown-pptx guide"/>
                        </a:rPr>
                        <a:t>Read the guide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24</Words>
  <Application>Microsoft Office PowerPoint</Application>
  <PresentationFormat>Widescreen</PresentationFormat>
  <Paragraphs>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Title slide title</vt:lpstr>
      <vt:lpstr>Title and content title</vt:lpstr>
      <vt:lpstr>Section header title</vt:lpstr>
      <vt:lpstr>Title only 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Ellis</dc:creator>
  <cp:lastModifiedBy>Paul Ellis</cp:lastModifiedBy>
  <cp:revision>1</cp:revision>
  <dcterms:created xsi:type="dcterms:W3CDTF">2026-04-20T23:25:17Z</dcterms:created>
  <dcterms:modified xsi:type="dcterms:W3CDTF">2026-04-21T00:57:01Z</dcterms:modified>
</cp:coreProperties>
</file>